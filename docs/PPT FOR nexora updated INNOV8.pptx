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C Soft Icecream" panose="020B0604020202020204" charset="0"/>
      <p:regular r:id="rId17"/>
    </p:embeddedFont>
    <p:embeddedFont>
      <p:font typeface="AC Soft Icecream Italics" panose="020B0604020202020204" charset="0"/>
      <p:regular r:id="rId18"/>
    </p:embeddedFont>
    <p:embeddedFont>
      <p:font typeface="Alta" panose="020B0604020202020204" charset="0"/>
      <p:regular r:id="rId19"/>
    </p:embeddedFont>
    <p:embeddedFont>
      <p:font typeface="Brice SemiExpanded Bold" panose="020B0604020202020204" charset="0"/>
      <p:regular r:id="rId20"/>
    </p:embeddedFont>
    <p:embeddedFont>
      <p:font typeface="Brice SemiExpanded Heavy" panose="020B0604020202020204" charset="0"/>
      <p:regular r:id="rId21"/>
    </p:embeddedFont>
    <p:embeddedFont>
      <p:font typeface="Bungee" panose="020B0604020202020204" charset="0"/>
      <p:regular r:id="rId22"/>
    </p:embeddedFont>
    <p:embeddedFont>
      <p:font typeface="Canva Sans" panose="020B0604020202020204" charset="0"/>
      <p:regular r:id="rId23"/>
    </p:embeddedFont>
    <p:embeddedFont>
      <p:font typeface="Canva Sans Bold" panose="020B0604020202020204" charset="0"/>
      <p:regular r:id="rId24"/>
    </p:embeddedFont>
    <p:embeddedFont>
      <p:font typeface="Canva Student Font" panose="020B0604020202020204" charset="0"/>
      <p:regular r:id="rId25"/>
    </p:embeddedFont>
    <p:embeddedFont>
      <p:font typeface="Distillery Strong" panose="020B0604020202020204" charset="0"/>
      <p:regular r:id="rId26"/>
    </p:embeddedFont>
    <p:embeddedFont>
      <p:font typeface="DM Sans Bold" panose="020B0604020202020204" charset="0"/>
      <p:regular r:id="rId27"/>
    </p:embeddedFont>
    <p:embeddedFont>
      <p:font typeface="IM Fell" panose="020B0604020202020204" charset="0"/>
      <p:regular r:id="rId28"/>
    </p:embeddedFont>
    <p:embeddedFont>
      <p:font typeface="Lekton" panose="020B0604020202020204" charset="0"/>
      <p:regular r:id="rId29"/>
    </p:embeddedFont>
    <p:embeddedFont>
      <p:font typeface="Lekton Italics" panose="020B0604020202020204" charset="0"/>
      <p:regular r:id="rId30"/>
    </p:embeddedFont>
    <p:embeddedFont>
      <p:font typeface="Libre Baskerville Italics" panose="020B0604020202020204" charset="0"/>
      <p:regular r:id="rId31"/>
    </p:embeddedFont>
    <p:embeddedFont>
      <p:font typeface="Montserrat Bold" panose="020B0604020202020204" charset="0"/>
      <p:regular r:id="rId32"/>
    </p:embeddedFont>
    <p:embeddedFont>
      <p:font typeface="Moontime" panose="020B0604020202020204" charset="0"/>
      <p:regular r:id="rId33"/>
    </p:embeddedFont>
    <p:embeddedFont>
      <p:font typeface="Quotes Script" panose="020B0604020202020204" charset="0"/>
      <p:regular r:id="rId34"/>
    </p:embeddedFont>
    <p:embeddedFont>
      <p:font typeface="Roca Two Heavy" panose="020B0604020202020204" charset="0"/>
      <p:regular r:id="rId35"/>
    </p:embeddedFont>
    <p:embeddedFont>
      <p:font typeface="SK Concretica" panose="020B0604020202020204" charset="0"/>
      <p:regular r:id="rId36"/>
    </p:embeddedFont>
    <p:embeddedFont>
      <p:font typeface="The Seasons" panose="020B0604020202020204" charset="0"/>
      <p:regular r:id="rId37"/>
    </p:embeddedFont>
    <p:embeddedFont>
      <p:font typeface="Trend Slab Four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29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presProps" Target="presProp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3.png"/><Relationship Id="rId7" Type="http://schemas.openxmlformats.org/officeDocument/2006/relationships/image" Target="../media/image4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9.svg"/><Relationship Id="rId7" Type="http://schemas.openxmlformats.org/officeDocument/2006/relationships/image" Target="../media/image5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svg"/><Relationship Id="rId5" Type="http://schemas.openxmlformats.org/officeDocument/2006/relationships/image" Target="../media/image50.svg"/><Relationship Id="rId4" Type="http://schemas.openxmlformats.org/officeDocument/2006/relationships/image" Target="../media/image30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svg"/><Relationship Id="rId3" Type="http://schemas.openxmlformats.org/officeDocument/2006/relationships/image" Target="../media/image30.png"/><Relationship Id="rId7" Type="http://schemas.openxmlformats.org/officeDocument/2006/relationships/image" Target="../media/image8.png"/><Relationship Id="rId12" Type="http://schemas.openxmlformats.org/officeDocument/2006/relationships/image" Target="../media/image66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11" Type="http://schemas.openxmlformats.org/officeDocument/2006/relationships/image" Target="../media/image65.svg"/><Relationship Id="rId5" Type="http://schemas.openxmlformats.org/officeDocument/2006/relationships/image" Target="../media/image9.png"/><Relationship Id="rId15" Type="http://schemas.openxmlformats.org/officeDocument/2006/relationships/image" Target="../media/image69.svg"/><Relationship Id="rId10" Type="http://schemas.openxmlformats.org/officeDocument/2006/relationships/image" Target="../media/image64.svg"/><Relationship Id="rId4" Type="http://schemas.openxmlformats.org/officeDocument/2006/relationships/image" Target="../media/image1.png"/><Relationship Id="rId9" Type="http://schemas.openxmlformats.org/officeDocument/2006/relationships/image" Target="../media/image63.png"/><Relationship Id="rId14" Type="http://schemas.openxmlformats.org/officeDocument/2006/relationships/image" Target="../media/image6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30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9440" y="8502363"/>
            <a:ext cx="2105035" cy="2098432"/>
          </a:xfrm>
          <a:custGeom>
            <a:avLst/>
            <a:gdLst/>
            <a:ahLst/>
            <a:cxnLst/>
            <a:rect l="l" t="t" r="r" b="b"/>
            <a:pathLst>
              <a:path w="2105035" h="2098432">
                <a:moveTo>
                  <a:pt x="0" y="0"/>
                </a:moveTo>
                <a:lnTo>
                  <a:pt x="2105035" y="0"/>
                </a:lnTo>
                <a:lnTo>
                  <a:pt x="2105035" y="2098432"/>
                </a:lnTo>
                <a:lnTo>
                  <a:pt x="0" y="2098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85632">
            <a:off x="997361" y="2492356"/>
            <a:ext cx="3619472" cy="6010007"/>
          </a:xfrm>
          <a:custGeom>
            <a:avLst/>
            <a:gdLst/>
            <a:ahLst/>
            <a:cxnLst/>
            <a:rect l="l" t="t" r="r" b="b"/>
            <a:pathLst>
              <a:path w="3619472" h="6010007">
                <a:moveTo>
                  <a:pt x="0" y="0"/>
                </a:moveTo>
                <a:lnTo>
                  <a:pt x="3619472" y="0"/>
                </a:lnTo>
                <a:lnTo>
                  <a:pt x="3619472" y="6010007"/>
                </a:lnTo>
                <a:lnTo>
                  <a:pt x="0" y="601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69547" y="-556067"/>
            <a:ext cx="3179507" cy="3169533"/>
          </a:xfrm>
          <a:custGeom>
            <a:avLst/>
            <a:gdLst/>
            <a:ahLst/>
            <a:cxnLst/>
            <a:rect l="l" t="t" r="r" b="b"/>
            <a:pathLst>
              <a:path w="3179507" h="3169533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87528" y="349949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79764"/>
            <a:ext cx="1366575" cy="1388917"/>
          </a:xfrm>
          <a:custGeom>
            <a:avLst/>
            <a:gdLst/>
            <a:ahLst/>
            <a:cxnLst/>
            <a:rect l="l" t="t" r="r" b="b"/>
            <a:pathLst>
              <a:path w="1366575" h="1388917">
                <a:moveTo>
                  <a:pt x="0" y="0"/>
                </a:moveTo>
                <a:lnTo>
                  <a:pt x="1366575" y="0"/>
                </a:lnTo>
                <a:lnTo>
                  <a:pt x="1366575" y="1388917"/>
                </a:lnTo>
                <a:lnTo>
                  <a:pt x="0" y="13889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id="8" name="Freeform 8"/>
          <p:cNvSpPr/>
          <p:nvPr/>
        </p:nvSpPr>
        <p:spPr>
          <a:xfrm>
            <a:off x="17259300" y="9258300"/>
            <a:ext cx="1028700" cy="1028700"/>
          </a:xfrm>
          <a:custGeom>
            <a:avLst/>
            <a:gdLst/>
            <a:ahLst/>
            <a:cxnLst/>
            <a:rect l="l" t="t" r="r" b="b"/>
            <a:pathLst>
              <a:path w="1028700" h="1028700">
                <a:moveTo>
                  <a:pt x="0" y="0"/>
                </a:moveTo>
                <a:lnTo>
                  <a:pt x="1028700" y="0"/>
                </a:lnTo>
                <a:lnTo>
                  <a:pt x="1028700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528882" y="5789401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627914" y="3659506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618874" y="6824394"/>
            <a:ext cx="2954442" cy="2954442"/>
          </a:xfrm>
          <a:custGeom>
            <a:avLst/>
            <a:gdLst/>
            <a:ahLst/>
            <a:cxnLst/>
            <a:rect l="l" t="t" r="r" b="b"/>
            <a:pathLst>
              <a:path w="2954442" h="2954442">
                <a:moveTo>
                  <a:pt x="0" y="0"/>
                </a:moveTo>
                <a:lnTo>
                  <a:pt x="2954441" y="0"/>
                </a:lnTo>
                <a:lnTo>
                  <a:pt x="2954441" y="2954442"/>
                </a:lnTo>
                <a:lnTo>
                  <a:pt x="0" y="2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154430" y="4145901"/>
            <a:ext cx="11072688" cy="610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80"/>
              </a:lnSpc>
            </a:pPr>
            <a:r>
              <a:rPr lang="en-US" sz="3342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• NEXT GENERATION OF STUDENT COLLABORATION •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778426" y="6103338"/>
            <a:ext cx="8545345" cy="729629"/>
            <a:chOff x="0" y="0"/>
            <a:chExt cx="11393793" cy="972839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1393793" cy="972839"/>
              <a:chOff x="0" y="0"/>
              <a:chExt cx="2331777" cy="19909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331777" cy="199095"/>
              </a:xfrm>
              <a:custGeom>
                <a:avLst/>
                <a:gdLst/>
                <a:ahLst/>
                <a:cxnLst/>
                <a:rect l="l" t="t" r="r" b="b"/>
                <a:pathLst>
                  <a:path w="2331777" h="199095">
                    <a:moveTo>
                      <a:pt x="44597" y="0"/>
                    </a:moveTo>
                    <a:lnTo>
                      <a:pt x="2287180" y="0"/>
                    </a:lnTo>
                    <a:cubicBezTo>
                      <a:pt x="2299008" y="0"/>
                      <a:pt x="2310351" y="4699"/>
                      <a:pt x="2318714" y="13062"/>
                    </a:cubicBezTo>
                    <a:cubicBezTo>
                      <a:pt x="2327078" y="21426"/>
                      <a:pt x="2331777" y="32769"/>
                      <a:pt x="2331777" y="44597"/>
                    </a:cubicBezTo>
                    <a:lnTo>
                      <a:pt x="2331777" y="154498"/>
                    </a:lnTo>
                    <a:cubicBezTo>
                      <a:pt x="2331777" y="166325"/>
                      <a:pt x="2327078" y="177669"/>
                      <a:pt x="2318714" y="186032"/>
                    </a:cubicBezTo>
                    <a:cubicBezTo>
                      <a:pt x="2310351" y="194396"/>
                      <a:pt x="2299008" y="199095"/>
                      <a:pt x="2287180" y="199095"/>
                    </a:cubicBezTo>
                    <a:lnTo>
                      <a:pt x="44597" y="199095"/>
                    </a:lnTo>
                    <a:cubicBezTo>
                      <a:pt x="32769" y="199095"/>
                      <a:pt x="21426" y="194396"/>
                      <a:pt x="13062" y="186032"/>
                    </a:cubicBezTo>
                    <a:cubicBezTo>
                      <a:pt x="4699" y="177669"/>
                      <a:pt x="0" y="166325"/>
                      <a:pt x="0" y="154498"/>
                    </a:cubicBezTo>
                    <a:lnTo>
                      <a:pt x="0" y="44597"/>
                    </a:lnTo>
                    <a:cubicBezTo>
                      <a:pt x="0" y="32769"/>
                      <a:pt x="4699" y="21426"/>
                      <a:pt x="13062" y="13062"/>
                    </a:cubicBezTo>
                    <a:cubicBezTo>
                      <a:pt x="21426" y="4699"/>
                      <a:pt x="32769" y="0"/>
                      <a:pt x="44597" y="0"/>
                    </a:cubicBezTo>
                    <a:close/>
                  </a:path>
                </a:pathLst>
              </a:custGeom>
              <a:ln w="38100" cap="rnd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2331777" cy="2371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03117" y="182941"/>
              <a:ext cx="10340677" cy="727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594"/>
                </a:lnSpc>
              </a:pPr>
              <a:r>
                <a:rPr lang="en-US" sz="3281">
                  <a:gradFill>
                    <a:gsLst>
                      <a:gs pos="0">
                        <a:srgbClr val="B644DD">
                          <a:alpha val="100000"/>
                        </a:srgbClr>
                      </a:gs>
                      <a:gs pos="50000">
                        <a:srgbClr val="692390">
                          <a:alpha val="100000"/>
                        </a:srgbClr>
                      </a:gs>
                      <a:gs pos="100000">
                        <a:srgbClr val="522FB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Lekton"/>
                  <a:ea typeface="Lekton"/>
                  <a:cs typeface="Lekton"/>
                  <a:sym typeface="Lekton"/>
                </a:rPr>
                <a:t>Presented by Team INNOV8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791200" y="2555323"/>
            <a:ext cx="9327461" cy="16805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88"/>
              </a:lnSpc>
              <a:spcBef>
                <a:spcPct val="0"/>
              </a:spcBef>
            </a:pPr>
            <a:r>
              <a:rPr lang="en-US" sz="15184" i="1" dirty="0">
                <a:solidFill>
                  <a:srgbClr val="722AB3"/>
                </a:solidFill>
                <a:latin typeface="Bungee"/>
                <a:ea typeface="Bungee"/>
                <a:cs typeface="Bungee"/>
                <a:sym typeface="Bungee"/>
              </a:rPr>
              <a:t>NEXORA</a:t>
            </a:r>
          </a:p>
        </p:txBody>
      </p:sp>
      <p:sp>
        <p:nvSpPr>
          <p:cNvPr id="19" name="Freeform 19"/>
          <p:cNvSpPr/>
          <p:nvPr/>
        </p:nvSpPr>
        <p:spPr>
          <a:xfrm>
            <a:off x="3400926" y="6364144"/>
            <a:ext cx="1525568" cy="1525568"/>
          </a:xfrm>
          <a:custGeom>
            <a:avLst/>
            <a:gdLst/>
            <a:ahLst/>
            <a:cxnLst/>
            <a:rect l="l" t="t" r="r" b="b"/>
            <a:pathLst>
              <a:path w="1525568" h="1525568">
                <a:moveTo>
                  <a:pt x="0" y="0"/>
                </a:moveTo>
                <a:lnTo>
                  <a:pt x="1525568" y="0"/>
                </a:lnTo>
                <a:lnTo>
                  <a:pt x="1525568" y="1525568"/>
                </a:lnTo>
                <a:lnTo>
                  <a:pt x="0" y="15255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5154430" y="5846434"/>
            <a:ext cx="1819026" cy="1819026"/>
          </a:xfrm>
          <a:custGeom>
            <a:avLst/>
            <a:gdLst/>
            <a:ahLst/>
            <a:cxnLst/>
            <a:rect l="l" t="t" r="r" b="b"/>
            <a:pathLst>
              <a:path w="1819026" h="1819026">
                <a:moveTo>
                  <a:pt x="0" y="0"/>
                </a:moveTo>
                <a:lnTo>
                  <a:pt x="1819026" y="0"/>
                </a:lnTo>
                <a:lnTo>
                  <a:pt x="1819026" y="1819026"/>
                </a:lnTo>
                <a:lnTo>
                  <a:pt x="0" y="18190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096094" y="9914256"/>
            <a:ext cx="10198060" cy="372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spc="176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SMART INDIA HACKATHON-2026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6227">
            <a:off x="15885824" y="1418040"/>
            <a:ext cx="4804353" cy="6728129"/>
          </a:xfrm>
          <a:custGeom>
            <a:avLst/>
            <a:gdLst/>
            <a:ahLst/>
            <a:cxnLst/>
            <a:rect l="l" t="t" r="r" b="b"/>
            <a:pathLst>
              <a:path w="4804353" h="6728129">
                <a:moveTo>
                  <a:pt x="0" y="0"/>
                </a:moveTo>
                <a:lnTo>
                  <a:pt x="4804352" y="0"/>
                </a:lnTo>
                <a:lnTo>
                  <a:pt x="4804352" y="6728129"/>
                </a:lnTo>
                <a:lnTo>
                  <a:pt x="0" y="6728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51720">
            <a:off x="-80030" y="-325659"/>
            <a:ext cx="1076013" cy="1506874"/>
          </a:xfrm>
          <a:custGeom>
            <a:avLst/>
            <a:gdLst/>
            <a:ahLst/>
            <a:cxnLst/>
            <a:rect l="l" t="t" r="r" b="b"/>
            <a:pathLst>
              <a:path w="1076013" h="1506874">
                <a:moveTo>
                  <a:pt x="0" y="0"/>
                </a:moveTo>
                <a:lnTo>
                  <a:pt x="1076013" y="0"/>
                </a:lnTo>
                <a:lnTo>
                  <a:pt x="1076013" y="1506873"/>
                </a:lnTo>
                <a:lnTo>
                  <a:pt x="0" y="1506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6230">
            <a:off x="4241179" y="8617795"/>
            <a:ext cx="2275434" cy="3186572"/>
          </a:xfrm>
          <a:custGeom>
            <a:avLst/>
            <a:gdLst/>
            <a:ahLst/>
            <a:cxnLst/>
            <a:rect l="l" t="t" r="r" b="b"/>
            <a:pathLst>
              <a:path w="2275434" h="3186572">
                <a:moveTo>
                  <a:pt x="0" y="0"/>
                </a:moveTo>
                <a:lnTo>
                  <a:pt x="2275434" y="0"/>
                </a:lnTo>
                <a:lnTo>
                  <a:pt x="2275434" y="3186572"/>
                </a:lnTo>
                <a:lnTo>
                  <a:pt x="0" y="3186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789512">
            <a:off x="-28491" y="7697245"/>
            <a:ext cx="620234" cy="868591"/>
          </a:xfrm>
          <a:custGeom>
            <a:avLst/>
            <a:gdLst/>
            <a:ahLst/>
            <a:cxnLst/>
            <a:rect l="l" t="t" r="r" b="b"/>
            <a:pathLst>
              <a:path w="620234" h="868591">
                <a:moveTo>
                  <a:pt x="0" y="0"/>
                </a:moveTo>
                <a:lnTo>
                  <a:pt x="620235" y="0"/>
                </a:lnTo>
                <a:lnTo>
                  <a:pt x="620235" y="868591"/>
                </a:lnTo>
                <a:lnTo>
                  <a:pt x="0" y="868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9130">
            <a:off x="13106069" y="-480547"/>
            <a:ext cx="1412551" cy="1391363"/>
          </a:xfrm>
          <a:custGeom>
            <a:avLst/>
            <a:gdLst/>
            <a:ahLst/>
            <a:cxnLst/>
            <a:rect l="l" t="t" r="r" b="b"/>
            <a:pathLst>
              <a:path w="1412551" h="1391363">
                <a:moveTo>
                  <a:pt x="0" y="0"/>
                </a:moveTo>
                <a:lnTo>
                  <a:pt x="1412551" y="0"/>
                </a:lnTo>
                <a:lnTo>
                  <a:pt x="1412551" y="1391363"/>
                </a:lnTo>
                <a:lnTo>
                  <a:pt x="0" y="139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00742" y="9121101"/>
            <a:ext cx="1419758" cy="1391363"/>
          </a:xfrm>
          <a:custGeom>
            <a:avLst/>
            <a:gdLst/>
            <a:ahLst/>
            <a:cxnLst/>
            <a:rect l="l" t="t" r="r" b="b"/>
            <a:pathLst>
              <a:path w="1419758" h="1391363">
                <a:moveTo>
                  <a:pt x="0" y="0"/>
                </a:moveTo>
                <a:lnTo>
                  <a:pt x="1419758" y="0"/>
                </a:lnTo>
                <a:lnTo>
                  <a:pt x="1419758" y="1391363"/>
                </a:lnTo>
                <a:lnTo>
                  <a:pt x="0" y="139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34336">
            <a:off x="14996439" y="7435859"/>
            <a:ext cx="2477168" cy="1391363"/>
          </a:xfrm>
          <a:custGeom>
            <a:avLst/>
            <a:gdLst/>
            <a:ahLst/>
            <a:cxnLst/>
            <a:rect l="l" t="t" r="r" b="b"/>
            <a:pathLst>
              <a:path w="2477168" h="1391363">
                <a:moveTo>
                  <a:pt x="0" y="0"/>
                </a:moveTo>
                <a:lnTo>
                  <a:pt x="2477168" y="0"/>
                </a:lnTo>
                <a:lnTo>
                  <a:pt x="2477168" y="1391363"/>
                </a:lnTo>
                <a:lnTo>
                  <a:pt x="0" y="139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7239" b="-3723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90367" y="305165"/>
            <a:ext cx="10605997" cy="2074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21"/>
              </a:lnSpc>
            </a:pPr>
            <a:r>
              <a:rPr lang="en-US" sz="869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he Seasons"/>
                <a:ea typeface="The Seasons"/>
                <a:cs typeface="The Seasons"/>
                <a:sym typeface="The Seasons"/>
              </a:rPr>
              <a:t>PROBLEM</a:t>
            </a:r>
          </a:p>
          <a:p>
            <a:pPr algn="ctr">
              <a:lnSpc>
                <a:spcPts val="7821"/>
              </a:lnSpc>
            </a:pPr>
            <a:r>
              <a:rPr lang="en-US" sz="869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The Seasons"/>
                <a:ea typeface="The Seasons"/>
                <a:cs typeface="The Seasons"/>
                <a:sym typeface="The Seasons"/>
              </a:rPr>
              <a:t>STATEMENT</a:t>
            </a:r>
          </a:p>
        </p:txBody>
      </p:sp>
      <p:sp>
        <p:nvSpPr>
          <p:cNvPr id="10" name="Freeform 10"/>
          <p:cNvSpPr/>
          <p:nvPr/>
        </p:nvSpPr>
        <p:spPr>
          <a:xfrm rot="-1618835">
            <a:off x="10981451" y="1268111"/>
            <a:ext cx="1015419" cy="1128243"/>
          </a:xfrm>
          <a:custGeom>
            <a:avLst/>
            <a:gdLst/>
            <a:ahLst/>
            <a:cxnLst/>
            <a:rect l="l" t="t" r="r" b="b"/>
            <a:pathLst>
              <a:path w="1015419" h="1128243">
                <a:moveTo>
                  <a:pt x="0" y="0"/>
                </a:moveTo>
                <a:lnTo>
                  <a:pt x="1015419" y="0"/>
                </a:lnTo>
                <a:lnTo>
                  <a:pt x="1015419" y="1128243"/>
                </a:lnTo>
                <a:lnTo>
                  <a:pt x="0" y="11282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794883">
            <a:off x="-424649" y="1523285"/>
            <a:ext cx="1412551" cy="1417813"/>
          </a:xfrm>
          <a:custGeom>
            <a:avLst/>
            <a:gdLst/>
            <a:ahLst/>
            <a:cxnLst/>
            <a:rect l="l" t="t" r="r" b="b"/>
            <a:pathLst>
              <a:path w="1412551" h="1417813">
                <a:moveTo>
                  <a:pt x="0" y="0"/>
                </a:moveTo>
                <a:lnTo>
                  <a:pt x="1412551" y="0"/>
                </a:lnTo>
                <a:lnTo>
                  <a:pt x="1412551" y="1417812"/>
                </a:lnTo>
                <a:lnTo>
                  <a:pt x="0" y="141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50" r="-95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25080" y="9493250"/>
            <a:ext cx="202033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84791" y="2901182"/>
            <a:ext cx="4107956" cy="5848919"/>
            <a:chOff x="0" y="0"/>
            <a:chExt cx="5477274" cy="7798559"/>
          </a:xfrm>
        </p:grpSpPr>
        <p:grpSp>
          <p:nvGrpSpPr>
            <p:cNvPr id="15" name="Group 15"/>
            <p:cNvGrpSpPr/>
            <p:nvPr/>
          </p:nvGrpSpPr>
          <p:grpSpPr>
            <a:xfrm>
              <a:off x="158718" y="0"/>
              <a:ext cx="5159838" cy="7798559"/>
              <a:chOff x="0" y="0"/>
              <a:chExt cx="1019227" cy="1540456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19227" cy="1540456"/>
              </a:xfrm>
              <a:custGeom>
                <a:avLst/>
                <a:gdLst/>
                <a:ahLst/>
                <a:cxnLst/>
                <a:rect l="l" t="t" r="r" b="b"/>
                <a:pathLst>
                  <a:path w="1019227" h="1540456">
                    <a:moveTo>
                      <a:pt x="102029" y="0"/>
                    </a:moveTo>
                    <a:lnTo>
                      <a:pt x="917199" y="0"/>
                    </a:lnTo>
                    <a:cubicBezTo>
                      <a:pt x="973548" y="0"/>
                      <a:pt x="1019227" y="45680"/>
                      <a:pt x="1019227" y="102029"/>
                    </a:cubicBezTo>
                    <a:lnTo>
                      <a:pt x="1019227" y="1438428"/>
                    </a:lnTo>
                    <a:cubicBezTo>
                      <a:pt x="1019227" y="1494776"/>
                      <a:pt x="973548" y="1540456"/>
                      <a:pt x="917199" y="1540456"/>
                    </a:cubicBezTo>
                    <a:lnTo>
                      <a:pt x="102029" y="1540456"/>
                    </a:lnTo>
                    <a:cubicBezTo>
                      <a:pt x="45680" y="1540456"/>
                      <a:pt x="0" y="1494776"/>
                      <a:pt x="0" y="1438428"/>
                    </a:cubicBezTo>
                    <a:lnTo>
                      <a:pt x="0" y="102029"/>
                    </a:lnTo>
                    <a:cubicBezTo>
                      <a:pt x="0" y="45680"/>
                      <a:pt x="45680" y="0"/>
                      <a:pt x="10202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644DD">
                      <a:alpha val="90000"/>
                    </a:srgbClr>
                  </a:gs>
                  <a:gs pos="50000">
                    <a:srgbClr val="692390">
                      <a:alpha val="90000"/>
                    </a:srgbClr>
                  </a:gs>
                  <a:gs pos="100000">
                    <a:srgbClr val="522FB4">
                      <a:alpha val="90000"/>
                    </a:srgbClr>
                  </a:gs>
                </a:gsLst>
                <a:lin ang="54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47625"/>
                <a:ext cx="1019227" cy="15880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0" y="366534"/>
              <a:ext cx="5477274" cy="1964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74"/>
                </a:lnSpc>
              </a:pPr>
              <a:r>
                <a:rPr lang="en-US" sz="3099" i="1">
                  <a:solidFill>
                    <a:srgbClr val="FFFFFF"/>
                  </a:solidFill>
                  <a:latin typeface="AC Soft Icecream Italics"/>
                  <a:ea typeface="AC Soft Icecream Italics"/>
                  <a:cs typeface="AC Soft Icecream Italics"/>
                  <a:sym typeface="AC Soft Icecream Italics"/>
                </a:rPr>
                <a:t>👥 Talent Discovery Problem</a:t>
              </a:r>
            </a:p>
            <a:p>
              <a:pPr algn="ctr">
                <a:lnSpc>
                  <a:spcPts val="3874"/>
                </a:lnSpc>
              </a:pPr>
              <a:endParaRPr lang="en-US" sz="3099" i="1">
                <a:solidFill>
                  <a:srgbClr val="FFFFFF"/>
                </a:solidFill>
                <a:latin typeface="AC Soft Icecream Italics"/>
                <a:ea typeface="AC Soft Icecream Italics"/>
                <a:cs typeface="AC Soft Icecream Italics"/>
                <a:sym typeface="AC Soft Icecream Itali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551" y="2566546"/>
              <a:ext cx="5276005" cy="447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🧩 Difficulty finding teammates with the right skills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🎯 Talent scattered across campus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🔍 Limited visibility into student expertise</a:t>
              </a:r>
            </a:p>
            <a:p>
              <a:pPr algn="ctr">
                <a:lnSpc>
                  <a:spcPts val="2049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11872" y="3841527"/>
            <a:ext cx="4033981" cy="5728754"/>
            <a:chOff x="0" y="0"/>
            <a:chExt cx="5378642" cy="7638339"/>
          </a:xfrm>
        </p:grpSpPr>
        <p:grpSp>
          <p:nvGrpSpPr>
            <p:cNvPr id="21" name="Group 21"/>
            <p:cNvGrpSpPr/>
            <p:nvPr/>
          </p:nvGrpSpPr>
          <p:grpSpPr>
            <a:xfrm>
              <a:off x="180622" y="0"/>
              <a:ext cx="5198020" cy="7638339"/>
              <a:chOff x="0" y="0"/>
              <a:chExt cx="1026769" cy="1508808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26769" cy="1508808"/>
              </a:xfrm>
              <a:custGeom>
                <a:avLst/>
                <a:gdLst/>
                <a:ahLst/>
                <a:cxnLst/>
                <a:rect l="l" t="t" r="r" b="b"/>
                <a:pathLst>
                  <a:path w="1026769" h="1508808">
                    <a:moveTo>
                      <a:pt x="101279" y="0"/>
                    </a:moveTo>
                    <a:lnTo>
                      <a:pt x="925490" y="0"/>
                    </a:lnTo>
                    <a:cubicBezTo>
                      <a:pt x="981425" y="0"/>
                      <a:pt x="1026769" y="45344"/>
                      <a:pt x="1026769" y="101279"/>
                    </a:cubicBezTo>
                    <a:lnTo>
                      <a:pt x="1026769" y="1407529"/>
                    </a:lnTo>
                    <a:cubicBezTo>
                      <a:pt x="1026769" y="1434390"/>
                      <a:pt x="1016099" y="1460150"/>
                      <a:pt x="997105" y="1479144"/>
                    </a:cubicBezTo>
                    <a:cubicBezTo>
                      <a:pt x="978112" y="1498137"/>
                      <a:pt x="952351" y="1508808"/>
                      <a:pt x="925490" y="1508808"/>
                    </a:cubicBezTo>
                    <a:lnTo>
                      <a:pt x="101279" y="1508808"/>
                    </a:lnTo>
                    <a:cubicBezTo>
                      <a:pt x="74418" y="1508808"/>
                      <a:pt x="48657" y="1498137"/>
                      <a:pt x="29664" y="1479144"/>
                    </a:cubicBezTo>
                    <a:cubicBezTo>
                      <a:pt x="10670" y="1460150"/>
                      <a:pt x="0" y="1434390"/>
                      <a:pt x="0" y="1407529"/>
                    </a:cubicBezTo>
                    <a:lnTo>
                      <a:pt x="0" y="101279"/>
                    </a:lnTo>
                    <a:cubicBezTo>
                      <a:pt x="0" y="45344"/>
                      <a:pt x="45344" y="0"/>
                      <a:pt x="10127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644DD">
                      <a:alpha val="90000"/>
                    </a:srgbClr>
                  </a:gs>
                  <a:gs pos="50000">
                    <a:srgbClr val="692390">
                      <a:alpha val="90000"/>
                    </a:srgbClr>
                  </a:gs>
                  <a:gs pos="100000">
                    <a:srgbClr val="522FB4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47625"/>
                <a:ext cx="1026769" cy="15564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80622" y="346830"/>
              <a:ext cx="5014178" cy="19644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74"/>
                </a:lnSpc>
              </a:pPr>
              <a:r>
                <a:rPr lang="en-US" sz="3099" i="1">
                  <a:solidFill>
                    <a:srgbClr val="FFFFFF"/>
                  </a:solidFill>
                  <a:latin typeface="AC Soft Icecream Italics"/>
                  <a:ea typeface="AC Soft Icecream Italics"/>
                  <a:cs typeface="AC Soft Icecream Italics"/>
                  <a:sym typeface="AC Soft Icecream Italics"/>
                </a:rPr>
                <a:t>📱 Reliance on Informal Channels</a:t>
              </a:r>
            </a:p>
            <a:p>
              <a:pPr algn="ctr">
                <a:lnSpc>
                  <a:spcPts val="3874"/>
                </a:lnSpc>
              </a:pPr>
              <a:endParaRPr lang="en-US" sz="3099" i="1">
                <a:solidFill>
                  <a:srgbClr val="FFFFFF"/>
                </a:solidFill>
                <a:latin typeface="AC Soft Icecream Italics"/>
                <a:ea typeface="AC Soft Icecream Italics"/>
                <a:cs typeface="AC Soft Icecream Italics"/>
                <a:sym typeface="AC Soft Icecream Itali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2898032"/>
              <a:ext cx="5378642" cy="26198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💬 WhatsApp Groups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🤝 Personal Networks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📢 Word-of-Mouth Referrals</a:t>
              </a:r>
            </a:p>
            <a:p>
              <a:pPr algn="ctr">
                <a:lnSpc>
                  <a:spcPts val="2049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164076" y="4468711"/>
            <a:ext cx="3942781" cy="5567586"/>
            <a:chOff x="0" y="0"/>
            <a:chExt cx="5257041" cy="7423448"/>
          </a:xfrm>
        </p:grpSpPr>
        <p:grpSp>
          <p:nvGrpSpPr>
            <p:cNvPr id="27" name="Group 27"/>
            <p:cNvGrpSpPr/>
            <p:nvPr/>
          </p:nvGrpSpPr>
          <p:grpSpPr>
            <a:xfrm>
              <a:off x="53781" y="0"/>
              <a:ext cx="5203260" cy="7423448"/>
              <a:chOff x="0" y="0"/>
              <a:chExt cx="1027804" cy="146636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1027804" cy="1466360"/>
              </a:xfrm>
              <a:custGeom>
                <a:avLst/>
                <a:gdLst/>
                <a:ahLst/>
                <a:cxnLst/>
                <a:rect l="l" t="t" r="r" b="b"/>
                <a:pathLst>
                  <a:path w="1027804" h="1466360">
                    <a:moveTo>
                      <a:pt x="101177" y="0"/>
                    </a:moveTo>
                    <a:lnTo>
                      <a:pt x="926627" y="0"/>
                    </a:lnTo>
                    <a:cubicBezTo>
                      <a:pt x="953461" y="0"/>
                      <a:pt x="979196" y="10660"/>
                      <a:pt x="998170" y="29634"/>
                    </a:cubicBezTo>
                    <a:cubicBezTo>
                      <a:pt x="1017145" y="48608"/>
                      <a:pt x="1027804" y="74343"/>
                      <a:pt x="1027804" y="101177"/>
                    </a:cubicBezTo>
                    <a:lnTo>
                      <a:pt x="1027804" y="1365183"/>
                    </a:lnTo>
                    <a:cubicBezTo>
                      <a:pt x="1027804" y="1421062"/>
                      <a:pt x="982506" y="1466360"/>
                      <a:pt x="926627" y="1466360"/>
                    </a:cubicBezTo>
                    <a:lnTo>
                      <a:pt x="101177" y="1466360"/>
                    </a:lnTo>
                    <a:cubicBezTo>
                      <a:pt x="45299" y="1466360"/>
                      <a:pt x="0" y="1421062"/>
                      <a:pt x="0" y="1365183"/>
                    </a:cubicBezTo>
                    <a:lnTo>
                      <a:pt x="0" y="101177"/>
                    </a:lnTo>
                    <a:cubicBezTo>
                      <a:pt x="0" y="45299"/>
                      <a:pt x="45299" y="0"/>
                      <a:pt x="101177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B644DD">
                      <a:alpha val="90000"/>
                    </a:srgbClr>
                  </a:gs>
                  <a:gs pos="50000">
                    <a:srgbClr val="692390">
                      <a:alpha val="90000"/>
                    </a:srgbClr>
                  </a:gs>
                  <a:gs pos="100000">
                    <a:srgbClr val="522FB4">
                      <a:alpha val="90000"/>
                    </a:srgbClr>
                  </a:gs>
                </a:gsLst>
                <a:lin ang="27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47625"/>
                <a:ext cx="1027804" cy="15139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60257" y="95228"/>
              <a:ext cx="4990309" cy="19645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71"/>
                </a:lnSpc>
              </a:pPr>
              <a:r>
                <a:rPr lang="en-US" sz="3096" i="1">
                  <a:solidFill>
                    <a:srgbClr val="FFFFFF"/>
                  </a:solidFill>
                  <a:latin typeface="AC Soft Icecream Italics"/>
                  <a:ea typeface="AC Soft Icecream Italics"/>
                  <a:cs typeface="AC Soft Icecream Italics"/>
                  <a:sym typeface="AC Soft Icecream Italics"/>
                </a:rPr>
                <a:t>❌ Missed  Opportunities</a:t>
              </a:r>
            </a:p>
            <a:p>
              <a:pPr algn="ctr">
                <a:lnSpc>
                  <a:spcPts val="3871"/>
                </a:lnSpc>
              </a:pPr>
              <a:endParaRPr lang="en-US" sz="3096" i="1">
                <a:solidFill>
                  <a:srgbClr val="FFFFFF"/>
                </a:solidFill>
                <a:latin typeface="AC Soft Icecream Italics"/>
                <a:ea typeface="AC Soft Icecream Italics"/>
                <a:cs typeface="AC Soft Icecream Italics"/>
                <a:sym typeface="AC Soft Icecream Itali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866653"/>
              <a:ext cx="5257041" cy="40143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🚀 Missed hackathon and project opportunities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🔬 Limited research collaboration</a:t>
              </a:r>
            </a:p>
            <a:p>
              <a:pPr algn="ctr">
                <a:lnSpc>
                  <a:spcPts val="2674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  <a:p>
              <a:pPr algn="ctr">
                <a:lnSpc>
                  <a:spcPts val="2674"/>
                </a:lnSpc>
              </a:pPr>
              <a:r>
                <a:rPr lang="en-US" sz="2139" i="1">
                  <a:solidFill>
                    <a:srgbClr val="FFFFFF"/>
                  </a:solidFill>
                  <a:latin typeface="Lekton Italics"/>
                  <a:ea typeface="Lekton Italics"/>
                  <a:cs typeface="Lekton Italics"/>
                  <a:sym typeface="Lekton Italics"/>
                </a:rPr>
                <a:t> ⏳ Slow and inefficient team formation</a:t>
              </a:r>
            </a:p>
            <a:p>
              <a:pPr algn="ctr">
                <a:lnSpc>
                  <a:spcPts val="2049"/>
                </a:lnSpc>
              </a:pPr>
              <a:endParaRPr lang="en-US" sz="2139" i="1">
                <a:solidFill>
                  <a:srgbClr val="FFFFFF"/>
                </a:solidFill>
                <a:latin typeface="Lekton Italics"/>
                <a:ea typeface="Lekton Italics"/>
                <a:cs typeface="Lekton Italics"/>
                <a:sym typeface="Lekton Italics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745074" y="2331745"/>
            <a:ext cx="817114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(Campus Talent, Skills &amp; Project Team Formation Network)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6227">
            <a:off x="16282694" y="1199763"/>
            <a:ext cx="4804353" cy="6728129"/>
          </a:xfrm>
          <a:custGeom>
            <a:avLst/>
            <a:gdLst/>
            <a:ahLst/>
            <a:cxnLst/>
            <a:rect l="l" t="t" r="r" b="b"/>
            <a:pathLst>
              <a:path w="4804353" h="6728129">
                <a:moveTo>
                  <a:pt x="0" y="0"/>
                </a:moveTo>
                <a:lnTo>
                  <a:pt x="4804352" y="0"/>
                </a:lnTo>
                <a:lnTo>
                  <a:pt x="4804352" y="6728130"/>
                </a:lnTo>
                <a:lnTo>
                  <a:pt x="0" y="67281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51720">
            <a:off x="-272043" y="-501176"/>
            <a:ext cx="1076013" cy="1506874"/>
          </a:xfrm>
          <a:custGeom>
            <a:avLst/>
            <a:gdLst/>
            <a:ahLst/>
            <a:cxnLst/>
            <a:rect l="l" t="t" r="r" b="b"/>
            <a:pathLst>
              <a:path w="1076013" h="1506874">
                <a:moveTo>
                  <a:pt x="0" y="0"/>
                </a:moveTo>
                <a:lnTo>
                  <a:pt x="1076012" y="0"/>
                </a:lnTo>
                <a:lnTo>
                  <a:pt x="1076012" y="1506873"/>
                </a:lnTo>
                <a:lnTo>
                  <a:pt x="0" y="1506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46230">
            <a:off x="9548887" y="9073005"/>
            <a:ext cx="2275434" cy="3186572"/>
          </a:xfrm>
          <a:custGeom>
            <a:avLst/>
            <a:gdLst/>
            <a:ahLst/>
            <a:cxnLst/>
            <a:rect l="l" t="t" r="r" b="b"/>
            <a:pathLst>
              <a:path w="2275434" h="3186572">
                <a:moveTo>
                  <a:pt x="0" y="0"/>
                </a:moveTo>
                <a:lnTo>
                  <a:pt x="2275435" y="0"/>
                </a:lnTo>
                <a:lnTo>
                  <a:pt x="2275435" y="3186572"/>
                </a:lnTo>
                <a:lnTo>
                  <a:pt x="0" y="3186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789512">
            <a:off x="-132629" y="7688483"/>
            <a:ext cx="620234" cy="868591"/>
          </a:xfrm>
          <a:custGeom>
            <a:avLst/>
            <a:gdLst/>
            <a:ahLst/>
            <a:cxnLst/>
            <a:rect l="l" t="t" r="r" b="b"/>
            <a:pathLst>
              <a:path w="620234" h="868591">
                <a:moveTo>
                  <a:pt x="0" y="0"/>
                </a:moveTo>
                <a:lnTo>
                  <a:pt x="620234" y="0"/>
                </a:lnTo>
                <a:lnTo>
                  <a:pt x="620234" y="868591"/>
                </a:lnTo>
                <a:lnTo>
                  <a:pt x="0" y="868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959130">
            <a:off x="13106069" y="-480547"/>
            <a:ext cx="1412551" cy="1391363"/>
          </a:xfrm>
          <a:custGeom>
            <a:avLst/>
            <a:gdLst/>
            <a:ahLst/>
            <a:cxnLst/>
            <a:rect l="l" t="t" r="r" b="b"/>
            <a:pathLst>
              <a:path w="1412551" h="1391363">
                <a:moveTo>
                  <a:pt x="0" y="0"/>
                </a:moveTo>
                <a:lnTo>
                  <a:pt x="1412551" y="0"/>
                </a:lnTo>
                <a:lnTo>
                  <a:pt x="1412551" y="1391363"/>
                </a:lnTo>
                <a:lnTo>
                  <a:pt x="0" y="139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125080" y="-1433405"/>
            <a:ext cx="2935224" cy="4114800"/>
          </a:xfrm>
          <a:custGeom>
            <a:avLst/>
            <a:gdLst/>
            <a:ahLst/>
            <a:cxnLst/>
            <a:rect l="l" t="t" r="r" b="b"/>
            <a:pathLst>
              <a:path w="2935224" h="4114800">
                <a:moveTo>
                  <a:pt x="0" y="0"/>
                </a:moveTo>
                <a:lnTo>
                  <a:pt x="2935224" y="0"/>
                </a:lnTo>
                <a:lnTo>
                  <a:pt x="293522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292954" y="9258300"/>
            <a:ext cx="2472590" cy="2489185"/>
          </a:xfrm>
          <a:custGeom>
            <a:avLst/>
            <a:gdLst/>
            <a:ahLst/>
            <a:cxnLst/>
            <a:rect l="l" t="t" r="r" b="b"/>
            <a:pathLst>
              <a:path w="2472590" h="2489185">
                <a:moveTo>
                  <a:pt x="0" y="0"/>
                </a:moveTo>
                <a:lnTo>
                  <a:pt x="2472590" y="0"/>
                </a:lnTo>
                <a:lnTo>
                  <a:pt x="2472590" y="2489185"/>
                </a:lnTo>
                <a:lnTo>
                  <a:pt x="0" y="248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345786" y="-443421"/>
            <a:ext cx="1419758" cy="1391363"/>
          </a:xfrm>
          <a:custGeom>
            <a:avLst/>
            <a:gdLst/>
            <a:ahLst/>
            <a:cxnLst/>
            <a:rect l="l" t="t" r="r" b="b"/>
            <a:pathLst>
              <a:path w="1419758" h="1391363">
                <a:moveTo>
                  <a:pt x="0" y="0"/>
                </a:moveTo>
                <a:lnTo>
                  <a:pt x="1419758" y="0"/>
                </a:lnTo>
                <a:lnTo>
                  <a:pt x="1419758" y="1391363"/>
                </a:lnTo>
                <a:lnTo>
                  <a:pt x="0" y="13913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2959130">
            <a:off x="14248626" y="9377959"/>
            <a:ext cx="1412551" cy="1391363"/>
          </a:xfrm>
          <a:custGeom>
            <a:avLst/>
            <a:gdLst/>
            <a:ahLst/>
            <a:cxnLst/>
            <a:rect l="l" t="t" r="r" b="b"/>
            <a:pathLst>
              <a:path w="1412551" h="1391363">
                <a:moveTo>
                  <a:pt x="0" y="0"/>
                </a:moveTo>
                <a:lnTo>
                  <a:pt x="1412551" y="0"/>
                </a:lnTo>
                <a:lnTo>
                  <a:pt x="1412551" y="1391362"/>
                </a:lnTo>
                <a:lnTo>
                  <a:pt x="0" y="13913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201888">
            <a:off x="13727835" y="625226"/>
            <a:ext cx="3405662" cy="1766331"/>
          </a:xfrm>
          <a:custGeom>
            <a:avLst/>
            <a:gdLst/>
            <a:ahLst/>
            <a:cxnLst/>
            <a:rect l="l" t="t" r="r" b="b"/>
            <a:pathLst>
              <a:path w="3405662" h="1766331">
                <a:moveTo>
                  <a:pt x="0" y="0"/>
                </a:moveTo>
                <a:lnTo>
                  <a:pt x="3405662" y="0"/>
                </a:lnTo>
                <a:lnTo>
                  <a:pt x="3405662" y="1766330"/>
                </a:lnTo>
                <a:lnTo>
                  <a:pt x="0" y="176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2000"/>
            </a:blip>
            <a:stretch>
              <a:fillRect t="-261"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5124455">
            <a:off x="751102" y="2705866"/>
            <a:ext cx="4440827" cy="5249345"/>
            <a:chOff x="0" y="0"/>
            <a:chExt cx="417610" cy="4936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7610" cy="493642"/>
            </a:xfrm>
            <a:custGeom>
              <a:avLst/>
              <a:gdLst/>
              <a:ahLst/>
              <a:cxnLst/>
              <a:rect l="l" t="t" r="r" b="b"/>
              <a:pathLst>
                <a:path w="417610" h="493642">
                  <a:moveTo>
                    <a:pt x="417610" y="48868"/>
                  </a:moveTo>
                  <a:lnTo>
                    <a:pt x="417610" y="493642"/>
                  </a:lnTo>
                  <a:lnTo>
                    <a:pt x="208805" y="394582"/>
                  </a:lnTo>
                  <a:lnTo>
                    <a:pt x="0" y="493642"/>
                  </a:lnTo>
                  <a:lnTo>
                    <a:pt x="0" y="48868"/>
                  </a:lnTo>
                  <a:cubicBezTo>
                    <a:pt x="0" y="22860"/>
                    <a:pt x="25057" y="0"/>
                    <a:pt x="54289" y="0"/>
                  </a:cubicBezTo>
                  <a:lnTo>
                    <a:pt x="363321" y="0"/>
                  </a:lnTo>
                  <a:cubicBezTo>
                    <a:pt x="392553" y="0"/>
                    <a:pt x="417610" y="21590"/>
                    <a:pt x="417610" y="49973"/>
                  </a:cubicBezTo>
                  <a:close/>
                </a:path>
              </a:pathLst>
            </a:custGeom>
            <a:solidFill>
              <a:srgbClr val="A7A0F8">
                <a:alpha val="64706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417610" cy="442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5606744">
            <a:off x="11266270" y="2352540"/>
            <a:ext cx="3904395" cy="5223553"/>
            <a:chOff x="0" y="0"/>
            <a:chExt cx="381000" cy="5097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1000" cy="509726"/>
            </a:xfrm>
            <a:custGeom>
              <a:avLst/>
              <a:gdLst/>
              <a:ahLst/>
              <a:cxnLst/>
              <a:rect l="l" t="t" r="r" b="b"/>
              <a:pathLst>
                <a:path w="381000" h="509726">
                  <a:moveTo>
                    <a:pt x="381000" y="49071"/>
                  </a:moveTo>
                  <a:lnTo>
                    <a:pt x="381000" y="509726"/>
                  </a:lnTo>
                  <a:lnTo>
                    <a:pt x="190500" y="410667"/>
                  </a:lnTo>
                  <a:lnTo>
                    <a:pt x="0" y="509726"/>
                  </a:lnTo>
                  <a:lnTo>
                    <a:pt x="0" y="49071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50226"/>
                  </a:cubicBezTo>
                  <a:close/>
                </a:path>
              </a:pathLst>
            </a:custGeom>
            <a:solidFill>
              <a:srgbClr val="722AB3">
                <a:alpha val="64706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1000" cy="458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3077825">
            <a:off x="4715634" y="3197065"/>
            <a:ext cx="6589920" cy="5297779"/>
            <a:chOff x="0" y="0"/>
            <a:chExt cx="647700" cy="520700"/>
          </a:xfrm>
        </p:grpSpPr>
        <p:sp>
          <p:nvSpPr>
            <p:cNvPr id="19" name="Freeform 19"/>
            <p:cNvSpPr/>
            <p:nvPr/>
          </p:nvSpPr>
          <p:spPr>
            <a:xfrm>
              <a:off x="8972" y="6593"/>
              <a:ext cx="629757" cy="507514"/>
            </a:xfrm>
            <a:custGeom>
              <a:avLst/>
              <a:gdLst/>
              <a:ahLst/>
              <a:cxnLst/>
              <a:rect l="l" t="t" r="r" b="b"/>
              <a:pathLst>
                <a:path w="629757" h="507514">
                  <a:moveTo>
                    <a:pt x="329471" y="5138"/>
                  </a:moveTo>
                  <a:lnTo>
                    <a:pt x="624135" y="242026"/>
                  </a:lnTo>
                  <a:cubicBezTo>
                    <a:pt x="627689" y="244883"/>
                    <a:pt x="629756" y="249197"/>
                    <a:pt x="629756" y="253757"/>
                  </a:cubicBezTo>
                  <a:cubicBezTo>
                    <a:pt x="629756" y="258317"/>
                    <a:pt x="627689" y="262631"/>
                    <a:pt x="624135" y="265488"/>
                  </a:cubicBezTo>
                  <a:lnTo>
                    <a:pt x="329471" y="502376"/>
                  </a:lnTo>
                  <a:cubicBezTo>
                    <a:pt x="320948" y="509227"/>
                    <a:pt x="308808" y="509227"/>
                    <a:pt x="300285" y="502376"/>
                  </a:cubicBezTo>
                  <a:lnTo>
                    <a:pt x="5621" y="265488"/>
                  </a:lnTo>
                  <a:cubicBezTo>
                    <a:pt x="2067" y="262631"/>
                    <a:pt x="0" y="258317"/>
                    <a:pt x="0" y="253757"/>
                  </a:cubicBezTo>
                  <a:cubicBezTo>
                    <a:pt x="0" y="249197"/>
                    <a:pt x="2067" y="244883"/>
                    <a:pt x="5621" y="242026"/>
                  </a:cubicBezTo>
                  <a:lnTo>
                    <a:pt x="300285" y="5138"/>
                  </a:lnTo>
                  <a:cubicBezTo>
                    <a:pt x="308808" y="-1713"/>
                    <a:pt x="320948" y="-1713"/>
                    <a:pt x="329471" y="5138"/>
                  </a:cubicBezTo>
                  <a:close/>
                </a:path>
              </a:pathLst>
            </a:custGeom>
            <a:solidFill>
              <a:srgbClr val="C4A1FF">
                <a:alpha val="89804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52400" y="66675"/>
              <a:ext cx="342900" cy="339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 rot="283970">
            <a:off x="639279" y="3240441"/>
            <a:ext cx="4668404" cy="3675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306" b="1" spc="3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💬 WhatsApp Groups</a:t>
            </a:r>
          </a:p>
          <a:p>
            <a:pPr algn="l">
              <a:lnSpc>
                <a:spcPts val="3228"/>
              </a:lnSpc>
            </a:pPr>
            <a:endParaRPr lang="en-US" sz="2306" b="1" spc="345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228"/>
              </a:lnSpc>
            </a:pPr>
            <a:r>
              <a:rPr lang="en-US" sz="2306" spc="3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Easy communication</a:t>
            </a:r>
          </a:p>
          <a:p>
            <a:pPr algn="l">
              <a:lnSpc>
                <a:spcPts val="3228"/>
              </a:lnSpc>
            </a:pPr>
            <a:r>
              <a:rPr lang="en-US" sz="2306" spc="3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❌ Messages get lost in chats</a:t>
            </a:r>
          </a:p>
          <a:p>
            <a:pPr algn="l">
              <a:lnSpc>
                <a:spcPts val="3228"/>
              </a:lnSpc>
            </a:pPr>
            <a:r>
              <a:rPr lang="en-US" sz="2306" spc="3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❌ No skill-based teammate discovery</a:t>
            </a:r>
          </a:p>
          <a:p>
            <a:pPr algn="l">
              <a:lnSpc>
                <a:spcPts val="3228"/>
              </a:lnSpc>
            </a:pPr>
            <a:r>
              <a:rPr lang="en-US" sz="2306" spc="34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❌ Difficult to organize opportunities</a:t>
            </a:r>
          </a:p>
        </p:txBody>
      </p:sp>
      <p:sp>
        <p:nvSpPr>
          <p:cNvPr id="22" name="TextBox 22"/>
          <p:cNvSpPr txBox="1"/>
          <p:nvPr/>
        </p:nvSpPr>
        <p:spPr>
          <a:xfrm rot="185308">
            <a:off x="10811172" y="3118301"/>
            <a:ext cx="4712102" cy="368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089" b="1" spc="313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🌐 Discord / Online Communities</a:t>
            </a:r>
          </a:p>
          <a:p>
            <a:pPr algn="ctr">
              <a:lnSpc>
                <a:spcPts val="2925"/>
              </a:lnSpc>
              <a:spcBef>
                <a:spcPct val="0"/>
              </a:spcBef>
            </a:pPr>
            <a:endParaRPr lang="en-US" sz="2089" b="1" spc="313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089" spc="313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2089" spc="3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✅ Large communities </a:t>
            </a:r>
          </a:p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089" spc="3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 ❌Information overload</a:t>
            </a:r>
          </a:p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089" spc="3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❌   No campus-specific matching</a:t>
            </a:r>
          </a:p>
          <a:p>
            <a:pPr algn="ctr">
              <a:lnSpc>
                <a:spcPts val="2925"/>
              </a:lnSpc>
              <a:spcBef>
                <a:spcPct val="0"/>
              </a:spcBef>
            </a:pPr>
            <a:r>
              <a:rPr lang="en-US" sz="2089" spc="31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❌ Hard to find relevant collaborators</a:t>
            </a:r>
          </a:p>
        </p:txBody>
      </p:sp>
      <p:sp>
        <p:nvSpPr>
          <p:cNvPr id="23" name="TextBox 23"/>
          <p:cNvSpPr txBox="1"/>
          <p:nvPr/>
        </p:nvSpPr>
        <p:spPr>
          <a:xfrm rot="-612682">
            <a:off x="4180691" y="4087122"/>
            <a:ext cx="6551354" cy="3689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 b="1">
                <a:solidFill>
                  <a:srgbClr val="5F4DC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🤝 Personal Networks</a:t>
            </a:r>
          </a:p>
          <a:p>
            <a:pPr algn="ctr">
              <a:lnSpc>
                <a:spcPts val="3244"/>
              </a:lnSpc>
              <a:spcBef>
                <a:spcPct val="0"/>
              </a:spcBef>
            </a:pPr>
            <a:endParaRPr lang="en-US" sz="2317" b="1">
              <a:solidFill>
                <a:srgbClr val="5F4DCE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5F4DCE"/>
                </a:solidFill>
                <a:latin typeface="Canva Sans"/>
                <a:ea typeface="Canva Sans"/>
                <a:cs typeface="Canva Sans"/>
                <a:sym typeface="Canva Sans"/>
              </a:rPr>
              <a:t>          ✅ Trusted connections</a:t>
            </a:r>
          </a:p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 spc="347">
                <a:solidFill>
                  <a:srgbClr val="5F4DCE"/>
                </a:solidFill>
                <a:latin typeface="Canva Sans"/>
                <a:ea typeface="Canva Sans"/>
                <a:cs typeface="Canva Sans"/>
                <a:sym typeface="Canva Sans"/>
              </a:rPr>
              <a:t>            ❌ Limited to existing friend circles</a:t>
            </a:r>
          </a:p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5F4DCE"/>
                </a:solidFill>
                <a:latin typeface="Canva Sans"/>
                <a:ea typeface="Canva Sans"/>
                <a:cs typeface="Canva Sans"/>
                <a:sym typeface="Canva Sans"/>
              </a:rPr>
              <a:t>              ❌ Hidden talent remains undiscovered</a:t>
            </a:r>
          </a:p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5F4DCE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❌ Missed collaboration opportunities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185600" y="942403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322831" y="9706610"/>
            <a:ext cx="202033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873599" y="197157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028700" y="1384566"/>
            <a:ext cx="16756006" cy="1078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22"/>
              </a:lnSpc>
            </a:pPr>
            <a:r>
              <a:rPr lang="en-US" sz="6301" spc="81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IM Fell"/>
                <a:ea typeface="IM Fell"/>
                <a:cs typeface="IM Fell"/>
                <a:sym typeface="IM Fell"/>
              </a:rPr>
              <a:t>Existing Solutions and their Limitations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69142" y="7299320"/>
            <a:ext cx="7628889" cy="5589895"/>
          </a:xfrm>
          <a:custGeom>
            <a:avLst/>
            <a:gdLst/>
            <a:ahLst/>
            <a:cxnLst/>
            <a:rect l="l" t="t" r="r" b="b"/>
            <a:pathLst>
              <a:path w="7628889" h="5589895">
                <a:moveTo>
                  <a:pt x="0" y="0"/>
                </a:moveTo>
                <a:lnTo>
                  <a:pt x="7628889" y="0"/>
                </a:lnTo>
                <a:lnTo>
                  <a:pt x="7628889" y="5589895"/>
                </a:lnTo>
                <a:lnTo>
                  <a:pt x="0" y="55898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669547" y="-929123"/>
            <a:ext cx="3179507" cy="3169533"/>
          </a:xfrm>
          <a:custGeom>
            <a:avLst/>
            <a:gdLst/>
            <a:ahLst/>
            <a:cxnLst/>
            <a:rect l="l" t="t" r="r" b="b"/>
            <a:pathLst>
              <a:path w="3179507" h="3169533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536765" y="7576806"/>
            <a:ext cx="1965144" cy="1958980"/>
          </a:xfrm>
          <a:custGeom>
            <a:avLst/>
            <a:gdLst/>
            <a:ahLst/>
            <a:cxnLst/>
            <a:rect l="l" t="t" r="r" b="b"/>
            <a:pathLst>
              <a:path w="1965144" h="1958980">
                <a:moveTo>
                  <a:pt x="0" y="0"/>
                </a:moveTo>
                <a:lnTo>
                  <a:pt x="1965144" y="0"/>
                </a:lnTo>
                <a:lnTo>
                  <a:pt x="1965144" y="1958979"/>
                </a:lnTo>
                <a:lnTo>
                  <a:pt x="0" y="195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993963" y="4060963"/>
            <a:ext cx="13023461" cy="1723052"/>
            <a:chOff x="0" y="0"/>
            <a:chExt cx="2168325" cy="2868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8325" cy="286877"/>
            </a:xfrm>
            <a:custGeom>
              <a:avLst/>
              <a:gdLst/>
              <a:ahLst/>
              <a:cxnLst/>
              <a:rect l="l" t="t" r="r" b="b"/>
              <a:pathLst>
                <a:path w="2168325" h="286877">
                  <a:moveTo>
                    <a:pt x="1965125" y="0"/>
                  </a:moveTo>
                  <a:cubicBezTo>
                    <a:pt x="2077349" y="0"/>
                    <a:pt x="2168325" y="64220"/>
                    <a:pt x="2168325" y="143439"/>
                  </a:cubicBezTo>
                  <a:cubicBezTo>
                    <a:pt x="2168325" y="222658"/>
                    <a:pt x="2077349" y="286877"/>
                    <a:pt x="1965125" y="286877"/>
                  </a:cubicBezTo>
                  <a:lnTo>
                    <a:pt x="203200" y="286877"/>
                  </a:lnTo>
                  <a:cubicBezTo>
                    <a:pt x="90976" y="286877"/>
                    <a:pt x="0" y="222658"/>
                    <a:pt x="0" y="143439"/>
                  </a:cubicBezTo>
                  <a:cubicBezTo>
                    <a:pt x="0" y="64220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3B0F2">
                    <a:alpha val="50000"/>
                  </a:srgbClr>
                </a:gs>
                <a:gs pos="100000">
                  <a:srgbClr val="FDF5B9">
                    <a:alpha val="5000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68325" cy="334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445807" y="174651"/>
            <a:ext cx="3860497" cy="3706077"/>
          </a:xfrm>
          <a:custGeom>
            <a:avLst/>
            <a:gdLst/>
            <a:ahLst/>
            <a:cxnLst/>
            <a:rect l="l" t="t" r="r" b="b"/>
            <a:pathLst>
              <a:path w="3860497" h="3706077">
                <a:moveTo>
                  <a:pt x="0" y="0"/>
                </a:moveTo>
                <a:lnTo>
                  <a:pt x="3860496" y="0"/>
                </a:lnTo>
                <a:lnTo>
                  <a:pt x="3860496" y="3706077"/>
                </a:lnTo>
                <a:lnTo>
                  <a:pt x="0" y="3706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41631" y="4357610"/>
            <a:ext cx="12128124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642698"/>
                </a:solidFill>
                <a:latin typeface="DM Sans Bold"/>
                <a:ea typeface="DM Sans Bold"/>
                <a:cs typeface="DM Sans Bold"/>
                <a:sym typeface="DM Sans Bold"/>
              </a:rPr>
              <a:t>A Student Talent &amp; Team Formation Network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A unified platform that helps students discover talent, find opportunities, build teams, and collaborate effectively for hackathons, projects, and research.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894834" y="5784015"/>
            <a:ext cx="3805332" cy="3653119"/>
          </a:xfrm>
          <a:custGeom>
            <a:avLst/>
            <a:gdLst/>
            <a:ahLst/>
            <a:cxnLst/>
            <a:rect l="l" t="t" r="r" b="b"/>
            <a:pathLst>
              <a:path w="3805332" h="3653119">
                <a:moveTo>
                  <a:pt x="0" y="0"/>
                </a:moveTo>
                <a:lnTo>
                  <a:pt x="3805332" y="0"/>
                </a:lnTo>
                <a:lnTo>
                  <a:pt x="3805332" y="3653119"/>
                </a:lnTo>
                <a:lnTo>
                  <a:pt x="0" y="3653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607860" y="6145965"/>
            <a:ext cx="4065191" cy="3902583"/>
          </a:xfrm>
          <a:custGeom>
            <a:avLst/>
            <a:gdLst/>
            <a:ahLst/>
            <a:cxnLst/>
            <a:rect l="l" t="t" r="r" b="b"/>
            <a:pathLst>
              <a:path w="4065191" h="3902583">
                <a:moveTo>
                  <a:pt x="0" y="0"/>
                </a:moveTo>
                <a:lnTo>
                  <a:pt x="4065190" y="0"/>
                </a:lnTo>
                <a:lnTo>
                  <a:pt x="4065190" y="3902583"/>
                </a:lnTo>
                <a:lnTo>
                  <a:pt x="0" y="3902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279494" y="655644"/>
            <a:ext cx="3518006" cy="3377286"/>
          </a:xfrm>
          <a:custGeom>
            <a:avLst/>
            <a:gdLst/>
            <a:ahLst/>
            <a:cxnLst/>
            <a:rect l="l" t="t" r="r" b="b"/>
            <a:pathLst>
              <a:path w="3518006" h="3377286">
                <a:moveTo>
                  <a:pt x="0" y="0"/>
                </a:moveTo>
                <a:lnTo>
                  <a:pt x="3518006" y="0"/>
                </a:lnTo>
                <a:lnTo>
                  <a:pt x="3518006" y="3377286"/>
                </a:lnTo>
                <a:lnTo>
                  <a:pt x="0" y="3377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620574" y="388944"/>
            <a:ext cx="8038159" cy="3308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16"/>
              </a:lnSpc>
            </a:pPr>
            <a:r>
              <a:rPr lang="en-US" sz="9226">
                <a:solidFill>
                  <a:srgbClr val="642698">
                    <a:alpha val="76863"/>
                  </a:srgbClr>
                </a:solidFill>
                <a:latin typeface="SK Concretica"/>
                <a:ea typeface="SK Concretica"/>
                <a:cs typeface="SK Concretica"/>
                <a:sym typeface="SK Concretica"/>
              </a:rPr>
              <a:t>Our Solution</a:t>
            </a:r>
          </a:p>
          <a:p>
            <a:pPr algn="ctr">
              <a:lnSpc>
                <a:spcPts val="12916"/>
              </a:lnSpc>
            </a:pPr>
            <a:endParaRPr lang="en-US" sz="9226">
              <a:solidFill>
                <a:srgbClr val="642698">
                  <a:alpha val="76863"/>
                </a:srgbClr>
              </a:solidFill>
              <a:latin typeface="SK Concretica"/>
              <a:ea typeface="SK Concretica"/>
              <a:cs typeface="SK Concretica"/>
              <a:sym typeface="SK Concretica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7379434" y="9488160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24578" y="9770735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5807" y="899291"/>
            <a:ext cx="3723335" cy="2520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👤 Student Profiles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Skills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Interests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Availability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Experience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72584" y="6485838"/>
            <a:ext cx="3283705" cy="200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🎯 Smart Matching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Talent Recommendations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Match Percentage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Personalized Suggestions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36547" y="6886181"/>
            <a:ext cx="3007816" cy="200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👥 Team Formation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Build Teams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Recruit Members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Missing Talent Detection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759971" y="1331838"/>
            <a:ext cx="4557051" cy="200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Distillery Strong"/>
                <a:ea typeface="Distillery Strong"/>
                <a:cs typeface="Distillery Strong"/>
                <a:sym typeface="Distillery Strong"/>
              </a:rPr>
              <a:t>🔬 Opportunities Hub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Projects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Research</a:t>
            </a:r>
          </a:p>
          <a:p>
            <a:pPr algn="ctr">
              <a:lnSpc>
                <a:spcPts val="4080"/>
              </a:lnSpc>
            </a:pPr>
            <a:r>
              <a:rPr lang="en-US" sz="200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Hackathons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8126" y="-926913"/>
            <a:ext cx="2613651" cy="2605453"/>
          </a:xfrm>
          <a:custGeom>
            <a:avLst/>
            <a:gdLst/>
            <a:ahLst/>
            <a:cxnLst/>
            <a:rect l="l" t="t" r="r" b="b"/>
            <a:pathLst>
              <a:path w="2613651" h="2605453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27914" y="636457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670531" y="9394889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78126" y="6958825"/>
            <a:ext cx="4058750" cy="3328175"/>
          </a:xfrm>
          <a:custGeom>
            <a:avLst/>
            <a:gdLst/>
            <a:ahLst/>
            <a:cxnLst/>
            <a:rect l="l" t="t" r="r" b="b"/>
            <a:pathLst>
              <a:path w="4058750" h="3328175">
                <a:moveTo>
                  <a:pt x="0" y="0"/>
                </a:moveTo>
                <a:lnTo>
                  <a:pt x="4058751" y="0"/>
                </a:lnTo>
                <a:lnTo>
                  <a:pt x="4058751" y="3328175"/>
                </a:lnTo>
                <a:lnTo>
                  <a:pt x="0" y="332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722886" y="-1388421"/>
            <a:ext cx="3634056" cy="3343332"/>
          </a:xfrm>
          <a:custGeom>
            <a:avLst/>
            <a:gdLst/>
            <a:ahLst/>
            <a:cxnLst/>
            <a:rect l="l" t="t" r="r" b="b"/>
            <a:pathLst>
              <a:path w="3634056" h="3343332">
                <a:moveTo>
                  <a:pt x="0" y="0"/>
                </a:moveTo>
                <a:lnTo>
                  <a:pt x="3634056" y="0"/>
                </a:lnTo>
                <a:lnTo>
                  <a:pt x="3634056" y="3343332"/>
                </a:lnTo>
                <a:lnTo>
                  <a:pt x="0" y="3343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978306">
            <a:off x="513833" y="2550079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8" y="0"/>
                </a:lnTo>
                <a:lnTo>
                  <a:pt x="2945628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cap="sq">
            <a:noFill/>
            <a:prstDash val="lgDash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3865929" y="550897"/>
            <a:ext cx="8326071" cy="7213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01"/>
              </a:lnSpc>
              <a:spcBef>
                <a:spcPct val="0"/>
              </a:spcBef>
            </a:pPr>
            <a:r>
              <a:rPr lang="en-US" sz="5358" dirty="0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e SemiExpanded Bold"/>
                <a:ea typeface="Brice SemiExpanded Bold"/>
                <a:cs typeface="Brice SemiExpanded Bold"/>
                <a:sym typeface="Brice SemiExpanded Bold"/>
              </a:rPr>
              <a:t>Platform Workflow</a:t>
            </a:r>
          </a:p>
        </p:txBody>
      </p:sp>
      <p:sp>
        <p:nvSpPr>
          <p:cNvPr id="9" name="Freeform 9"/>
          <p:cNvSpPr/>
          <p:nvPr/>
        </p:nvSpPr>
        <p:spPr>
          <a:xfrm rot="-2346940">
            <a:off x="4581964" y="1714902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8" y="0"/>
                </a:lnTo>
                <a:lnTo>
                  <a:pt x="2945628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781684">
            <a:off x="7758592" y="3557580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7" y="0"/>
                </a:lnTo>
                <a:lnTo>
                  <a:pt x="2945627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32752">
            <a:off x="9678229" y="7341564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8" y="0"/>
                </a:lnTo>
                <a:lnTo>
                  <a:pt x="2945628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2504169">
            <a:off x="5747726" y="6363512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7" y="0"/>
                </a:lnTo>
                <a:lnTo>
                  <a:pt x="2945627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2137871">
            <a:off x="13193621" y="5730463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7" y="0"/>
                </a:lnTo>
                <a:lnTo>
                  <a:pt x="2945627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471151">
            <a:off x="14204203" y="2921618"/>
            <a:ext cx="2945628" cy="2562696"/>
          </a:xfrm>
          <a:custGeom>
            <a:avLst/>
            <a:gdLst/>
            <a:ahLst/>
            <a:cxnLst/>
            <a:rect l="l" t="t" r="r" b="b"/>
            <a:pathLst>
              <a:path w="2945628" h="2562696">
                <a:moveTo>
                  <a:pt x="0" y="0"/>
                </a:moveTo>
                <a:lnTo>
                  <a:pt x="2945628" y="0"/>
                </a:lnTo>
                <a:lnTo>
                  <a:pt x="2945628" y="2562696"/>
                </a:lnTo>
                <a:lnTo>
                  <a:pt x="0" y="25626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 rot="-210061">
            <a:off x="4521737" y="2424634"/>
            <a:ext cx="3062009" cy="1209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1"/>
              </a:lnSpc>
              <a:spcBef>
                <a:spcPct val="0"/>
              </a:spcBef>
            </a:pPr>
            <a:r>
              <a:rPr lang="en-US" sz="227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📝 Create Profile</a:t>
            </a:r>
          </a:p>
          <a:p>
            <a:pPr algn="ctr">
              <a:lnSpc>
                <a:spcPts val="3181"/>
              </a:lnSpc>
              <a:spcBef>
                <a:spcPct val="0"/>
              </a:spcBef>
            </a:pPr>
            <a:r>
              <a:rPr lang="en-US" sz="2272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(Skills, Interests, Availability)</a:t>
            </a:r>
          </a:p>
        </p:txBody>
      </p:sp>
      <p:sp>
        <p:nvSpPr>
          <p:cNvPr id="16" name="TextBox 16"/>
          <p:cNvSpPr txBox="1"/>
          <p:nvPr/>
        </p:nvSpPr>
        <p:spPr>
          <a:xfrm rot="452679">
            <a:off x="7749854" y="4432225"/>
            <a:ext cx="2973107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🎯 Smart Matching Engine</a:t>
            </a:r>
          </a:p>
        </p:txBody>
      </p:sp>
      <p:sp>
        <p:nvSpPr>
          <p:cNvPr id="17" name="TextBox 17"/>
          <p:cNvSpPr txBox="1"/>
          <p:nvPr/>
        </p:nvSpPr>
        <p:spPr>
          <a:xfrm rot="-456001">
            <a:off x="5935113" y="7143997"/>
            <a:ext cx="2733091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📊 Match Score Generation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84246" y="7951156"/>
            <a:ext cx="3033165" cy="969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👥 Team Formation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193555" y="6466700"/>
            <a:ext cx="2945760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💬 Collaboration &amp; Communication</a:t>
            </a:r>
          </a:p>
        </p:txBody>
      </p:sp>
      <p:sp>
        <p:nvSpPr>
          <p:cNvPr id="20" name="Freeform 20"/>
          <p:cNvSpPr/>
          <p:nvPr/>
        </p:nvSpPr>
        <p:spPr>
          <a:xfrm rot="2201947">
            <a:off x="7426774" y="3376624"/>
            <a:ext cx="1095177" cy="487354"/>
          </a:xfrm>
          <a:custGeom>
            <a:avLst/>
            <a:gdLst/>
            <a:ahLst/>
            <a:cxnLst/>
            <a:rect l="l" t="t" r="r" b="b"/>
            <a:pathLst>
              <a:path w="1095177" h="487354">
                <a:moveTo>
                  <a:pt x="0" y="0"/>
                </a:moveTo>
                <a:lnTo>
                  <a:pt x="1095177" y="0"/>
                </a:lnTo>
                <a:lnTo>
                  <a:pt x="1095177" y="487353"/>
                </a:lnTo>
                <a:lnTo>
                  <a:pt x="0" y="487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7334369" y="946753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577727" y="9750107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23" name="TextBox 23"/>
          <p:cNvSpPr txBox="1"/>
          <p:nvPr/>
        </p:nvSpPr>
        <p:spPr>
          <a:xfrm rot="236246">
            <a:off x="508869" y="3444894"/>
            <a:ext cx="2961442" cy="47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👤 Student Login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945290" y="3772229"/>
            <a:ext cx="3456539" cy="81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EFEFD0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lta"/>
                <a:ea typeface="Alta"/>
                <a:cs typeface="Alta"/>
                <a:sym typeface="Alta"/>
              </a:rPr>
              <a:t>🚀 Project / Research Execution</a:t>
            </a:r>
          </a:p>
        </p:txBody>
      </p:sp>
      <p:sp>
        <p:nvSpPr>
          <p:cNvPr id="25" name="Freeform 25"/>
          <p:cNvSpPr/>
          <p:nvPr/>
        </p:nvSpPr>
        <p:spPr>
          <a:xfrm rot="-1302678">
            <a:off x="3529720" y="3313548"/>
            <a:ext cx="1119097" cy="497998"/>
          </a:xfrm>
          <a:custGeom>
            <a:avLst/>
            <a:gdLst/>
            <a:ahLst/>
            <a:cxnLst/>
            <a:rect l="l" t="t" r="r" b="b"/>
            <a:pathLst>
              <a:path w="1119097" h="497998">
                <a:moveTo>
                  <a:pt x="0" y="0"/>
                </a:moveTo>
                <a:lnTo>
                  <a:pt x="1119097" y="0"/>
                </a:lnTo>
                <a:lnTo>
                  <a:pt x="1119097" y="497998"/>
                </a:lnTo>
                <a:lnTo>
                  <a:pt x="0" y="497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 rot="7887720">
            <a:off x="7905038" y="5963356"/>
            <a:ext cx="1337062" cy="594992"/>
          </a:xfrm>
          <a:custGeom>
            <a:avLst/>
            <a:gdLst/>
            <a:ahLst/>
            <a:cxnLst/>
            <a:rect l="l" t="t" r="r" b="b"/>
            <a:pathLst>
              <a:path w="1337062" h="594992">
                <a:moveTo>
                  <a:pt x="0" y="0"/>
                </a:moveTo>
                <a:lnTo>
                  <a:pt x="1337061" y="0"/>
                </a:lnTo>
                <a:lnTo>
                  <a:pt x="1337061" y="594992"/>
                </a:lnTo>
                <a:lnTo>
                  <a:pt x="0" y="5949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1353718">
            <a:off x="8434539" y="8118198"/>
            <a:ext cx="1097990" cy="488605"/>
          </a:xfrm>
          <a:custGeom>
            <a:avLst/>
            <a:gdLst/>
            <a:ahLst/>
            <a:cxnLst/>
            <a:rect l="l" t="t" r="r" b="b"/>
            <a:pathLst>
              <a:path w="1097990" h="488605">
                <a:moveTo>
                  <a:pt x="0" y="0"/>
                </a:moveTo>
                <a:lnTo>
                  <a:pt x="1097990" y="0"/>
                </a:lnTo>
                <a:lnTo>
                  <a:pt x="1097990" y="488605"/>
                </a:lnTo>
                <a:lnTo>
                  <a:pt x="0" y="4886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2072916">
            <a:off x="12661827" y="7891591"/>
            <a:ext cx="1168732" cy="520086"/>
          </a:xfrm>
          <a:custGeom>
            <a:avLst/>
            <a:gdLst/>
            <a:ahLst/>
            <a:cxnLst/>
            <a:rect l="l" t="t" r="r" b="b"/>
            <a:pathLst>
              <a:path w="1168732" h="520086">
                <a:moveTo>
                  <a:pt x="0" y="0"/>
                </a:moveTo>
                <a:lnTo>
                  <a:pt x="1168733" y="0"/>
                </a:lnTo>
                <a:lnTo>
                  <a:pt x="1168733" y="520086"/>
                </a:lnTo>
                <a:lnTo>
                  <a:pt x="0" y="520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 rot="-4141596">
            <a:off x="15115982" y="5402586"/>
            <a:ext cx="1116061" cy="496647"/>
          </a:xfrm>
          <a:custGeom>
            <a:avLst/>
            <a:gdLst/>
            <a:ahLst/>
            <a:cxnLst/>
            <a:rect l="l" t="t" r="r" b="b"/>
            <a:pathLst>
              <a:path w="1116061" h="496647">
                <a:moveTo>
                  <a:pt x="0" y="0"/>
                </a:moveTo>
                <a:lnTo>
                  <a:pt x="1116061" y="0"/>
                </a:lnTo>
                <a:lnTo>
                  <a:pt x="1116061" y="496647"/>
                </a:lnTo>
                <a:lnTo>
                  <a:pt x="0" y="4966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114577" y="9810794"/>
            <a:ext cx="1729013" cy="1599482"/>
          </a:xfrm>
          <a:custGeom>
            <a:avLst/>
            <a:gdLst/>
            <a:ahLst/>
            <a:cxnLst/>
            <a:rect l="l" t="t" r="r" b="b"/>
            <a:pathLst>
              <a:path w="1729013" h="1599482">
                <a:moveTo>
                  <a:pt x="0" y="0"/>
                </a:moveTo>
                <a:lnTo>
                  <a:pt x="1729013" y="0"/>
                </a:lnTo>
                <a:lnTo>
                  <a:pt x="1729013" y="1599483"/>
                </a:lnTo>
                <a:lnTo>
                  <a:pt x="0" y="159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90007" y="4047507"/>
            <a:ext cx="1729013" cy="1599482"/>
          </a:xfrm>
          <a:custGeom>
            <a:avLst/>
            <a:gdLst/>
            <a:ahLst/>
            <a:cxnLst/>
            <a:rect l="l" t="t" r="r" b="b"/>
            <a:pathLst>
              <a:path w="1729013" h="1599482">
                <a:moveTo>
                  <a:pt x="0" y="0"/>
                </a:moveTo>
                <a:lnTo>
                  <a:pt x="1729013" y="0"/>
                </a:lnTo>
                <a:lnTo>
                  <a:pt x="1729013" y="1599483"/>
                </a:lnTo>
                <a:lnTo>
                  <a:pt x="0" y="1599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909484" y="-793147"/>
            <a:ext cx="3289589" cy="2010304"/>
          </a:xfrm>
          <a:custGeom>
            <a:avLst/>
            <a:gdLst/>
            <a:ahLst/>
            <a:cxnLst/>
            <a:rect l="l" t="t" r="r" b="b"/>
            <a:pathLst>
              <a:path w="3289589" h="2010304">
                <a:moveTo>
                  <a:pt x="0" y="0"/>
                </a:moveTo>
                <a:lnTo>
                  <a:pt x="3289589" y="0"/>
                </a:lnTo>
                <a:lnTo>
                  <a:pt x="3289589" y="2010304"/>
                </a:lnTo>
                <a:lnTo>
                  <a:pt x="0" y="2010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97250" y="672791"/>
            <a:ext cx="1883512" cy="1151035"/>
          </a:xfrm>
          <a:custGeom>
            <a:avLst/>
            <a:gdLst/>
            <a:ahLst/>
            <a:cxnLst/>
            <a:rect l="l" t="t" r="r" b="b"/>
            <a:pathLst>
              <a:path w="1883512" h="1151035">
                <a:moveTo>
                  <a:pt x="0" y="0"/>
                </a:moveTo>
                <a:lnTo>
                  <a:pt x="1883512" y="0"/>
                </a:lnTo>
                <a:lnTo>
                  <a:pt x="1883512" y="1151035"/>
                </a:lnTo>
                <a:lnTo>
                  <a:pt x="0" y="1151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54812" y="9135965"/>
            <a:ext cx="1883512" cy="1151035"/>
          </a:xfrm>
          <a:custGeom>
            <a:avLst/>
            <a:gdLst/>
            <a:ahLst/>
            <a:cxnLst/>
            <a:rect l="l" t="t" r="r" b="b"/>
            <a:pathLst>
              <a:path w="1883512" h="1151035">
                <a:moveTo>
                  <a:pt x="0" y="0"/>
                </a:moveTo>
                <a:lnTo>
                  <a:pt x="1883512" y="0"/>
                </a:lnTo>
                <a:lnTo>
                  <a:pt x="1883512" y="1151035"/>
                </a:lnTo>
                <a:lnTo>
                  <a:pt x="0" y="1151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698057" y="8988395"/>
            <a:ext cx="5995568" cy="3663958"/>
          </a:xfrm>
          <a:custGeom>
            <a:avLst/>
            <a:gdLst/>
            <a:ahLst/>
            <a:cxnLst/>
            <a:rect l="l" t="t" r="r" b="b"/>
            <a:pathLst>
              <a:path w="5995568" h="3663958">
                <a:moveTo>
                  <a:pt x="0" y="0"/>
                </a:moveTo>
                <a:lnTo>
                  <a:pt x="5995568" y="0"/>
                </a:lnTo>
                <a:lnTo>
                  <a:pt x="5995568" y="3663958"/>
                </a:lnTo>
                <a:lnTo>
                  <a:pt x="0" y="3663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7559988">
            <a:off x="16033559" y="3097867"/>
            <a:ext cx="3204793" cy="4420404"/>
          </a:xfrm>
          <a:custGeom>
            <a:avLst/>
            <a:gdLst/>
            <a:ahLst/>
            <a:cxnLst/>
            <a:rect l="l" t="t" r="r" b="b"/>
            <a:pathLst>
              <a:path w="3204793" h="4420404">
                <a:moveTo>
                  <a:pt x="0" y="0"/>
                </a:moveTo>
                <a:lnTo>
                  <a:pt x="3204793" y="0"/>
                </a:lnTo>
                <a:lnTo>
                  <a:pt x="3204793" y="4420404"/>
                </a:lnTo>
                <a:lnTo>
                  <a:pt x="0" y="4420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243578" y="395457"/>
            <a:ext cx="8295949" cy="1309676"/>
          </a:xfrm>
          <a:custGeom>
            <a:avLst/>
            <a:gdLst/>
            <a:ahLst/>
            <a:cxnLst/>
            <a:rect l="l" t="t" r="r" b="b"/>
            <a:pathLst>
              <a:path w="8295949" h="1309676">
                <a:moveTo>
                  <a:pt x="0" y="0"/>
                </a:moveTo>
                <a:lnTo>
                  <a:pt x="8295949" y="0"/>
                </a:lnTo>
                <a:lnTo>
                  <a:pt x="8295949" y="1309677"/>
                </a:lnTo>
                <a:lnTo>
                  <a:pt x="0" y="13096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0000"/>
            </a:blip>
            <a:stretch>
              <a:fillRect t="-73519" b="-73519"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662517" y="2451874"/>
            <a:ext cx="3449792" cy="2707796"/>
          </a:xfrm>
          <a:custGeom>
            <a:avLst/>
            <a:gdLst/>
            <a:ahLst/>
            <a:cxnLst/>
            <a:rect l="l" t="t" r="r" b="b"/>
            <a:pathLst>
              <a:path w="3449792" h="2707796">
                <a:moveTo>
                  <a:pt x="0" y="0"/>
                </a:moveTo>
                <a:lnTo>
                  <a:pt x="3449792" y="0"/>
                </a:lnTo>
                <a:lnTo>
                  <a:pt x="3449792" y="2707796"/>
                </a:lnTo>
                <a:lnTo>
                  <a:pt x="0" y="2707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9294" t="-96582" r="-38474" b="-100836"/>
            </a:stretch>
          </a:blipFill>
        </p:spPr>
      </p:sp>
      <p:sp>
        <p:nvSpPr>
          <p:cNvPr id="11" name="Freeform 11"/>
          <p:cNvSpPr/>
          <p:nvPr/>
        </p:nvSpPr>
        <p:spPr>
          <a:xfrm rot="5400000">
            <a:off x="5456576" y="2467890"/>
            <a:ext cx="3462559" cy="2688530"/>
          </a:xfrm>
          <a:custGeom>
            <a:avLst/>
            <a:gdLst/>
            <a:ahLst/>
            <a:cxnLst/>
            <a:rect l="l" t="t" r="r" b="b"/>
            <a:pathLst>
              <a:path w="3462559" h="2688530">
                <a:moveTo>
                  <a:pt x="0" y="0"/>
                </a:moveTo>
                <a:lnTo>
                  <a:pt x="3462559" y="0"/>
                </a:lnTo>
                <a:lnTo>
                  <a:pt x="3462559" y="2688530"/>
                </a:lnTo>
                <a:lnTo>
                  <a:pt x="0" y="2688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8847" t="-90412" r="-40231" b="-97671"/>
            </a:stretch>
          </a:blipFill>
        </p:spPr>
      </p:sp>
      <p:sp>
        <p:nvSpPr>
          <p:cNvPr id="12" name="Freeform 12"/>
          <p:cNvSpPr/>
          <p:nvPr/>
        </p:nvSpPr>
        <p:spPr>
          <a:xfrm rot="5399999">
            <a:off x="8532019" y="2689166"/>
            <a:ext cx="3712883" cy="2694021"/>
          </a:xfrm>
          <a:custGeom>
            <a:avLst/>
            <a:gdLst/>
            <a:ahLst/>
            <a:cxnLst/>
            <a:rect l="l" t="t" r="r" b="b"/>
            <a:pathLst>
              <a:path w="3712883" h="2694021">
                <a:moveTo>
                  <a:pt x="0" y="0"/>
                </a:moveTo>
                <a:lnTo>
                  <a:pt x="3712883" y="0"/>
                </a:lnTo>
                <a:lnTo>
                  <a:pt x="3712883" y="2694021"/>
                </a:lnTo>
                <a:lnTo>
                  <a:pt x="0" y="26940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7413" t="-128653" r="-35984" b="-117286"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11901839" y="2178177"/>
            <a:ext cx="3838301" cy="2892214"/>
          </a:xfrm>
          <a:custGeom>
            <a:avLst/>
            <a:gdLst/>
            <a:ahLst/>
            <a:cxnLst/>
            <a:rect l="l" t="t" r="r" b="b"/>
            <a:pathLst>
              <a:path w="3838301" h="2892214">
                <a:moveTo>
                  <a:pt x="0" y="0"/>
                </a:moveTo>
                <a:lnTo>
                  <a:pt x="3838300" y="0"/>
                </a:lnTo>
                <a:lnTo>
                  <a:pt x="3838300" y="2892214"/>
                </a:lnTo>
                <a:lnTo>
                  <a:pt x="0" y="28922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761" t="-90107" r="-37946" b="-10917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472602" y="942403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40891" y="9706610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387413" y="214482"/>
            <a:ext cx="8008280" cy="1609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46"/>
              </a:lnSpc>
              <a:spcBef>
                <a:spcPct val="0"/>
              </a:spcBef>
            </a:pPr>
            <a:r>
              <a:rPr lang="en-US" sz="9390">
                <a:solidFill>
                  <a:srgbClr val="5E17EB">
                    <a:alpha val="61961"/>
                  </a:srgbClr>
                </a:solidFill>
                <a:latin typeface="The Seasons"/>
                <a:ea typeface="The Seasons"/>
                <a:cs typeface="The Seasons"/>
                <a:sym typeface="The Seasons"/>
              </a:rPr>
              <a:t>Key Features</a:t>
            </a:r>
          </a:p>
        </p:txBody>
      </p:sp>
      <p:sp>
        <p:nvSpPr>
          <p:cNvPr id="17" name="Freeform 17"/>
          <p:cNvSpPr/>
          <p:nvPr/>
        </p:nvSpPr>
        <p:spPr>
          <a:xfrm rot="-5400000">
            <a:off x="11632089" y="6536884"/>
            <a:ext cx="3791414" cy="2756407"/>
          </a:xfrm>
          <a:custGeom>
            <a:avLst/>
            <a:gdLst/>
            <a:ahLst/>
            <a:cxnLst/>
            <a:rect l="l" t="t" r="r" b="b"/>
            <a:pathLst>
              <a:path w="3791414" h="2756407">
                <a:moveTo>
                  <a:pt x="0" y="0"/>
                </a:moveTo>
                <a:lnTo>
                  <a:pt x="3791415" y="0"/>
                </a:lnTo>
                <a:lnTo>
                  <a:pt x="3791415" y="2756407"/>
                </a:lnTo>
                <a:lnTo>
                  <a:pt x="0" y="27564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7034" t="-105316" r="-33957" b="-105316"/>
            </a:stretch>
          </a:blipFill>
        </p:spPr>
      </p:sp>
      <p:sp>
        <p:nvSpPr>
          <p:cNvPr id="18" name="Freeform 18"/>
          <p:cNvSpPr/>
          <p:nvPr/>
        </p:nvSpPr>
        <p:spPr>
          <a:xfrm rot="-5400000">
            <a:off x="8283739" y="6739074"/>
            <a:ext cx="3774594" cy="2736983"/>
          </a:xfrm>
          <a:custGeom>
            <a:avLst/>
            <a:gdLst/>
            <a:ahLst/>
            <a:cxnLst/>
            <a:rect l="l" t="t" r="r" b="b"/>
            <a:pathLst>
              <a:path w="3774594" h="2736983">
                <a:moveTo>
                  <a:pt x="0" y="0"/>
                </a:moveTo>
                <a:lnTo>
                  <a:pt x="3774593" y="0"/>
                </a:lnTo>
                <a:lnTo>
                  <a:pt x="3774593" y="2736983"/>
                </a:lnTo>
                <a:lnTo>
                  <a:pt x="0" y="2736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6824" t="-99138" r="-31881" b="-93273"/>
            </a:stretch>
          </a:blipFill>
        </p:spPr>
      </p:sp>
      <p:sp>
        <p:nvSpPr>
          <p:cNvPr id="19" name="Freeform 19"/>
          <p:cNvSpPr/>
          <p:nvPr/>
        </p:nvSpPr>
        <p:spPr>
          <a:xfrm rot="-5400000">
            <a:off x="4861264" y="6778122"/>
            <a:ext cx="3566114" cy="2658888"/>
          </a:xfrm>
          <a:custGeom>
            <a:avLst/>
            <a:gdLst/>
            <a:ahLst/>
            <a:cxnLst/>
            <a:rect l="l" t="t" r="r" b="b"/>
            <a:pathLst>
              <a:path w="3566114" h="2658888">
                <a:moveTo>
                  <a:pt x="0" y="0"/>
                </a:moveTo>
                <a:lnTo>
                  <a:pt x="3566114" y="0"/>
                </a:lnTo>
                <a:lnTo>
                  <a:pt x="3566114" y="2658888"/>
                </a:lnTo>
                <a:lnTo>
                  <a:pt x="0" y="26588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978" t="-126499" r="-38418" b="-116181"/>
            </a:stretch>
          </a:blipFill>
        </p:spPr>
      </p:sp>
      <p:sp>
        <p:nvSpPr>
          <p:cNvPr id="20" name="Freeform 20"/>
          <p:cNvSpPr/>
          <p:nvPr/>
        </p:nvSpPr>
        <p:spPr>
          <a:xfrm rot="5400000">
            <a:off x="991322" y="6493025"/>
            <a:ext cx="3838301" cy="2637486"/>
          </a:xfrm>
          <a:custGeom>
            <a:avLst/>
            <a:gdLst/>
            <a:ahLst/>
            <a:cxnLst/>
            <a:rect l="l" t="t" r="r" b="b"/>
            <a:pathLst>
              <a:path w="3838301" h="2637486">
                <a:moveTo>
                  <a:pt x="0" y="0"/>
                </a:moveTo>
                <a:lnTo>
                  <a:pt x="3838301" y="0"/>
                </a:lnTo>
                <a:lnTo>
                  <a:pt x="3838301" y="2637486"/>
                </a:lnTo>
                <a:lnTo>
                  <a:pt x="0" y="26374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761" t="-98810" r="-37946" b="-129378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123100" y="2280179"/>
            <a:ext cx="2528626" cy="314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r>
              <a:rPr lang="en-US" sz="1987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🏆 Student Portfolio</a:t>
            </a:r>
          </a:p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Showcase projects and achievements</a:t>
            </a:r>
          </a:p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Highlight certifications and research work</a:t>
            </a:r>
          </a:p>
          <a:p>
            <a:pPr algn="ctr">
              <a:lnSpc>
                <a:spcPts val="2782"/>
              </a:lnSpc>
            </a:pPr>
            <a:r>
              <a:rPr lang="en-US" sz="198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a professional student profile</a:t>
            </a:r>
          </a:p>
          <a:p>
            <a:pPr algn="ctr">
              <a:lnSpc>
                <a:spcPts val="2782"/>
              </a:lnSpc>
            </a:pPr>
            <a:endParaRPr lang="en-US" sz="1987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924431" y="2270654"/>
            <a:ext cx="2478844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🎯 Smart Matching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Recommend suitable teammates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compatibility/match percentage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 relevant projects and opportunities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136922" y="2272541"/>
            <a:ext cx="2598549" cy="3511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👥 Team Formation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teams for projects, hackathons, and research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Recruit members based on required skills</a:t>
            </a:r>
          </a:p>
          <a:p>
            <a:pPr algn="ctr">
              <a:lnSpc>
                <a:spcPts val="2784"/>
              </a:lnSpc>
              <a:spcBef>
                <a:spcPct val="0"/>
              </a:spcBef>
            </a:pPr>
            <a:r>
              <a:rPr lang="en-US" sz="19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balanced multidisciplinary teams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14877" y="6453823"/>
            <a:ext cx="2608078" cy="316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✅ Missing Talent Detection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missing roles within a team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Highlight required skills not yet covered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 complete project teams efficiently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49708" y="6126704"/>
            <a:ext cx="2521529" cy="3323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🔬 Projects &amp; Research Hub</a:t>
            </a:r>
          </a:p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Discover project and research opportunities</a:t>
            </a:r>
          </a:p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 with professors and mentors</a:t>
            </a:r>
          </a:p>
          <a:p>
            <a:pPr algn="ctr">
              <a:lnSpc>
                <a:spcPts val="2655"/>
              </a:lnSpc>
              <a:spcBef>
                <a:spcPct val="0"/>
              </a:spcBef>
            </a:pPr>
            <a:r>
              <a:rPr lang="en-US" sz="18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for projects that match your skills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962801" y="6493675"/>
            <a:ext cx="2576726" cy="295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💬</a:t>
            </a:r>
            <a:r>
              <a:rPr lang="en-US" sz="209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Communication Center</a:t>
            </a:r>
          </a:p>
          <a:p>
            <a:pPr algn="ctr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Direct student-to-student messaging</a:t>
            </a:r>
          </a:p>
          <a:p>
            <a:pPr algn="ctr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discussion channels</a:t>
            </a:r>
          </a:p>
          <a:p>
            <a:pPr algn="ctr">
              <a:lnSpc>
                <a:spcPts val="2932"/>
              </a:lnSpc>
              <a:spcBef>
                <a:spcPct val="0"/>
              </a:spcBef>
            </a:pPr>
            <a:r>
              <a:rPr lang="en-US" sz="20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Student-professor communication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81108" y="2003587"/>
            <a:ext cx="2885988" cy="341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📊 </a:t>
            </a:r>
            <a:r>
              <a:rPr lang="en-US" sz="198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Match Score</a:t>
            </a:r>
          </a:p>
          <a:p>
            <a:pPr algn="ctr">
              <a:lnSpc>
                <a:spcPts val="2774"/>
              </a:lnSpc>
            </a:pPr>
            <a:r>
              <a:rPr lang="en-US" sz="1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Generates compatibility percentages</a:t>
            </a:r>
          </a:p>
          <a:p>
            <a:pPr algn="ctr">
              <a:lnSpc>
                <a:spcPts val="2774"/>
              </a:lnSpc>
            </a:pPr>
            <a:r>
              <a:rPr lang="en-US" sz="1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Matches students with projects and teams</a:t>
            </a:r>
          </a:p>
          <a:p>
            <a:pPr algn="ctr">
              <a:lnSpc>
                <a:spcPts val="2774"/>
              </a:lnSpc>
            </a:pPr>
            <a:r>
              <a:rPr lang="en-US" sz="198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Considers skills, interests, availability, and experience</a:t>
            </a:r>
          </a:p>
          <a:p>
            <a:pPr algn="ctr">
              <a:lnSpc>
                <a:spcPts val="2774"/>
              </a:lnSpc>
              <a:spcBef>
                <a:spcPct val="0"/>
              </a:spcBef>
            </a:pPr>
            <a:endParaRPr lang="en-US" sz="198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086761" y="6101398"/>
            <a:ext cx="2882072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❓ Question &amp; Discussion Forum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Ask academic and technical questions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Participate in knowledge-sharing discussions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 from peers, mentors, and professors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7038">
            <a:off x="16712286" y="8455347"/>
            <a:ext cx="2111156" cy="2895736"/>
          </a:xfrm>
          <a:custGeom>
            <a:avLst/>
            <a:gdLst/>
            <a:ahLst/>
            <a:cxnLst/>
            <a:rect l="l" t="t" r="r" b="b"/>
            <a:pathLst>
              <a:path w="2111156" h="289573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9551" y="7797034"/>
            <a:ext cx="2732216" cy="2851459"/>
          </a:xfrm>
          <a:custGeom>
            <a:avLst/>
            <a:gdLst/>
            <a:ahLst/>
            <a:cxnLst/>
            <a:rect l="l" t="t" r="r" b="b"/>
            <a:pathLst>
              <a:path w="2732216" h="2851459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69547" y="-1128092"/>
            <a:ext cx="3179507" cy="3169533"/>
          </a:xfrm>
          <a:custGeom>
            <a:avLst/>
            <a:gdLst/>
            <a:ahLst/>
            <a:cxnLst/>
            <a:rect l="l" t="t" r="r" b="b"/>
            <a:pathLst>
              <a:path w="3179507" h="3169533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2908" y="-728399"/>
            <a:ext cx="1419758" cy="1391363"/>
          </a:xfrm>
          <a:custGeom>
            <a:avLst/>
            <a:gdLst/>
            <a:ahLst/>
            <a:cxnLst/>
            <a:rect l="l" t="t" r="r" b="b"/>
            <a:pathLst>
              <a:path w="1419758" h="1391363">
                <a:moveTo>
                  <a:pt x="0" y="0"/>
                </a:moveTo>
                <a:lnTo>
                  <a:pt x="1419758" y="0"/>
                </a:lnTo>
                <a:lnTo>
                  <a:pt x="1419758" y="1391362"/>
                </a:lnTo>
                <a:lnTo>
                  <a:pt x="0" y="1391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768083" y="-32718"/>
            <a:ext cx="2171311" cy="3618852"/>
          </a:xfrm>
          <a:custGeom>
            <a:avLst/>
            <a:gdLst/>
            <a:ahLst/>
            <a:cxnLst/>
            <a:rect l="l" t="t" r="r" b="b"/>
            <a:pathLst>
              <a:path w="2171311" h="3618852">
                <a:moveTo>
                  <a:pt x="0" y="0"/>
                </a:moveTo>
                <a:lnTo>
                  <a:pt x="2171311" y="0"/>
                </a:lnTo>
                <a:lnTo>
                  <a:pt x="2171311" y="3618852"/>
                </a:lnTo>
                <a:lnTo>
                  <a:pt x="0" y="3618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446639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77555" y="9493250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6557" y="5675532"/>
            <a:ext cx="8899327" cy="2444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6116" lvl="1" indent="-303058" algn="l">
              <a:lnSpc>
                <a:spcPts val="3930"/>
              </a:lnSpc>
              <a:buFont typeface="Arial"/>
              <a:buChar char="•"/>
            </a:pPr>
            <a:r>
              <a:rPr lang="en-US" sz="2807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Undergraduate students                                             </a:t>
            </a:r>
          </a:p>
          <a:p>
            <a:pPr marL="606116" lvl="1" indent="-303058" algn="l">
              <a:lnSpc>
                <a:spcPts val="3930"/>
              </a:lnSpc>
              <a:buFont typeface="Arial"/>
              <a:buChar char="•"/>
            </a:pPr>
            <a:r>
              <a:rPr lang="en-US" sz="2807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Postgraduate students                                               </a:t>
            </a:r>
          </a:p>
          <a:p>
            <a:pPr marL="606116" lvl="1" indent="-303058" algn="l">
              <a:lnSpc>
                <a:spcPts val="3930"/>
              </a:lnSpc>
              <a:buFont typeface="Arial"/>
              <a:buChar char="•"/>
            </a:pPr>
            <a:r>
              <a:rPr lang="en-US" sz="2807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Hackathon participants                                              </a:t>
            </a:r>
          </a:p>
          <a:p>
            <a:pPr marL="606116" lvl="1" indent="-303058" algn="l">
              <a:lnSpc>
                <a:spcPts val="3930"/>
              </a:lnSpc>
              <a:buFont typeface="Arial"/>
              <a:buChar char="•"/>
            </a:pPr>
            <a:r>
              <a:rPr lang="en-US" sz="2807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Students seeking project teammates                      </a:t>
            </a:r>
          </a:p>
          <a:p>
            <a:pPr marL="584527" lvl="1" indent="-292263" algn="l">
              <a:lnSpc>
                <a:spcPts val="3790"/>
              </a:lnSpc>
              <a:buFont typeface="Arial"/>
              <a:buChar char="•"/>
            </a:pPr>
            <a:r>
              <a:rPr lang="en-US" sz="2707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Students interested in research oppportunities</a:t>
            </a:r>
            <a:r>
              <a:rPr lang="en-US" sz="2707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"/>
                <a:ea typeface="Canva Sans"/>
                <a:cs typeface="Canva Sans"/>
                <a:sym typeface="Canva Sans"/>
              </a:rPr>
              <a:t>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55035" y="5752901"/>
            <a:ext cx="7832965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Professors and research mentors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Club representatives                        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b="1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Student organization leaders</a:t>
            </a:r>
            <a:r>
              <a:rPr lang="en-US" sz="2800">
                <a:gradFill>
                  <a:gsLst>
                    <a:gs pos="0">
                      <a:srgbClr val="B644DD">
                        <a:alpha val="100000"/>
                      </a:srgbClr>
                    </a:gs>
                    <a:gs pos="50000">
                      <a:srgbClr val="69239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884979" y="444766"/>
            <a:ext cx="6007576" cy="2636312"/>
            <a:chOff x="0" y="0"/>
            <a:chExt cx="8010101" cy="3515082"/>
          </a:xfrm>
        </p:grpSpPr>
        <p:sp>
          <p:nvSpPr>
            <p:cNvPr id="12" name="TextBox 12"/>
            <p:cNvSpPr txBox="1"/>
            <p:nvPr/>
          </p:nvSpPr>
          <p:spPr>
            <a:xfrm>
              <a:off x="0" y="228600"/>
              <a:ext cx="8010101" cy="2861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500"/>
                </a:lnSpc>
              </a:pPr>
              <a:r>
                <a:rPr lang="en-US" sz="10825">
                  <a:solidFill>
                    <a:srgbClr val="000000"/>
                  </a:solidFill>
                  <a:latin typeface="Distillery Strong"/>
                  <a:ea typeface="Distillery Strong"/>
                  <a:cs typeface="Distillery Strong"/>
                  <a:sym typeface="Distillery Strong"/>
                </a:rPr>
                <a:t>TARGET 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8374" y="2281007"/>
              <a:ext cx="4143923" cy="1234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60"/>
                </a:lnSpc>
              </a:pPr>
              <a:r>
                <a:rPr lang="en-US" sz="8433">
                  <a:solidFill>
                    <a:srgbClr val="000000"/>
                  </a:solidFill>
                  <a:latin typeface="Moontime"/>
                  <a:ea typeface="Moontime"/>
                  <a:cs typeface="Moontime"/>
                  <a:sym typeface="Moontime"/>
                </a:rPr>
                <a:t>Users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9020" y="3639226"/>
            <a:ext cx="6188122" cy="2071266"/>
            <a:chOff x="0" y="0"/>
            <a:chExt cx="8250829" cy="2761688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557747"/>
              <a:ext cx="8250829" cy="12039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48"/>
                </a:lnSpc>
              </a:pPr>
              <a:r>
                <a:rPr lang="en-US" sz="7310" b="1" spc="-219">
                  <a:solidFill>
                    <a:srgbClr val="8B61C2"/>
                  </a:solidFill>
                  <a:latin typeface="Brice SemiExpanded Heavy"/>
                  <a:ea typeface="Brice SemiExpanded Heavy"/>
                  <a:cs typeface="Brice SemiExpanded Heavy"/>
                  <a:sym typeface="Brice SemiExpanded Heavy"/>
                </a:rPr>
                <a:t>USERS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71475"/>
              <a:ext cx="7890640" cy="1415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610"/>
                </a:lnSpc>
              </a:pPr>
              <a:r>
                <a:rPr lang="en-US" sz="8814">
                  <a:solidFill>
                    <a:srgbClr val="8B61C2"/>
                  </a:solidFill>
                  <a:latin typeface="Quotes Script"/>
                  <a:ea typeface="Quotes Script"/>
                  <a:cs typeface="Quotes Script"/>
                  <a:sym typeface="Quotes Script"/>
                </a:rPr>
                <a:t>Primary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008524" y="3639226"/>
            <a:ext cx="8250776" cy="2170825"/>
            <a:chOff x="0" y="0"/>
            <a:chExt cx="11001034" cy="289443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661532"/>
              <a:ext cx="11001034" cy="12329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1"/>
                </a:lnSpc>
              </a:pPr>
              <a:r>
                <a:rPr lang="en-US" sz="7501" b="1" spc="-225">
                  <a:solidFill>
                    <a:srgbClr val="8B61C2"/>
                  </a:solidFill>
                  <a:latin typeface="Brice SemiExpanded Heavy"/>
                  <a:ea typeface="Brice SemiExpanded Heavy"/>
                  <a:cs typeface="Brice SemiExpanded Heavy"/>
                  <a:sym typeface="Brice SemiExpanded Heavy"/>
                </a:rPr>
                <a:t>USERS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409575"/>
              <a:ext cx="11001034" cy="15073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093"/>
                </a:lnSpc>
              </a:pPr>
              <a:r>
                <a:rPr lang="en-US" sz="9458">
                  <a:solidFill>
                    <a:srgbClr val="8B61C2"/>
                  </a:solidFill>
                  <a:latin typeface="Quotes Script"/>
                  <a:ea typeface="Quotes Script"/>
                  <a:cs typeface="Quotes Script"/>
                  <a:sym typeface="Quotes Script"/>
                </a:rPr>
                <a:t>Secondary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rot="4789512">
            <a:off x="11100190" y="9639345"/>
            <a:ext cx="620234" cy="868591"/>
          </a:xfrm>
          <a:custGeom>
            <a:avLst/>
            <a:gdLst/>
            <a:ahLst/>
            <a:cxnLst/>
            <a:rect l="l" t="t" r="r" b="b"/>
            <a:pathLst>
              <a:path w="620234" h="868591">
                <a:moveTo>
                  <a:pt x="0" y="0"/>
                </a:moveTo>
                <a:lnTo>
                  <a:pt x="620234" y="0"/>
                </a:lnTo>
                <a:lnTo>
                  <a:pt x="620234" y="868590"/>
                </a:lnTo>
                <a:lnTo>
                  <a:pt x="0" y="868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8126" y="-926913"/>
            <a:ext cx="2613651" cy="2605453"/>
          </a:xfrm>
          <a:custGeom>
            <a:avLst/>
            <a:gdLst/>
            <a:ahLst/>
            <a:cxnLst/>
            <a:rect l="l" t="t" r="r" b="b"/>
            <a:pathLst>
              <a:path w="2613651" h="2605453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60086" y="4328680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3"/>
                </a:lnTo>
                <a:lnTo>
                  <a:pt x="0" y="1357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794000">
            <a:off x="2486675" y="384920"/>
            <a:ext cx="10982014" cy="1303201"/>
          </a:xfrm>
          <a:custGeom>
            <a:avLst/>
            <a:gdLst/>
            <a:ahLst/>
            <a:cxnLst/>
            <a:rect l="l" t="t" r="r" b="b"/>
            <a:pathLst>
              <a:path w="10982014" h="1303201">
                <a:moveTo>
                  <a:pt x="0" y="19163"/>
                </a:moveTo>
                <a:lnTo>
                  <a:pt x="10979773" y="0"/>
                </a:lnTo>
                <a:lnTo>
                  <a:pt x="10982015" y="1284037"/>
                </a:lnTo>
                <a:lnTo>
                  <a:pt x="2242" y="1303201"/>
                </a:lnTo>
                <a:lnTo>
                  <a:pt x="0" y="1916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632823" r="-9614" b="-33862"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4739337" y="5816078"/>
            <a:ext cx="8104175" cy="306317"/>
          </a:xfrm>
          <a:custGeom>
            <a:avLst/>
            <a:gdLst/>
            <a:ahLst/>
            <a:cxnLst/>
            <a:rect l="l" t="t" r="r" b="b"/>
            <a:pathLst>
              <a:path w="8104175" h="306317">
                <a:moveTo>
                  <a:pt x="0" y="0"/>
                </a:moveTo>
                <a:lnTo>
                  <a:pt x="8104175" y="0"/>
                </a:lnTo>
                <a:lnTo>
                  <a:pt x="8104175" y="306317"/>
                </a:lnTo>
                <a:lnTo>
                  <a:pt x="0" y="3063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99015" r="-297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8861" y="2219132"/>
            <a:ext cx="3839935" cy="1731579"/>
          </a:xfrm>
          <a:custGeom>
            <a:avLst/>
            <a:gdLst/>
            <a:ahLst/>
            <a:cxnLst/>
            <a:rect l="l" t="t" r="r" b="b"/>
            <a:pathLst>
              <a:path w="3839935" h="1731579">
                <a:moveTo>
                  <a:pt x="0" y="0"/>
                </a:moveTo>
                <a:lnTo>
                  <a:pt x="3839934" y="0"/>
                </a:lnTo>
                <a:lnTo>
                  <a:pt x="3839934" y="1731579"/>
                </a:lnTo>
                <a:lnTo>
                  <a:pt x="0" y="17315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965" b="-300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483095" y="2744294"/>
            <a:ext cx="4155171" cy="1976375"/>
          </a:xfrm>
          <a:custGeom>
            <a:avLst/>
            <a:gdLst/>
            <a:ahLst/>
            <a:cxnLst/>
            <a:rect l="l" t="t" r="r" b="b"/>
            <a:pathLst>
              <a:path w="4155171" h="1976375">
                <a:moveTo>
                  <a:pt x="0" y="0"/>
                </a:moveTo>
                <a:lnTo>
                  <a:pt x="4155171" y="0"/>
                </a:lnTo>
                <a:lnTo>
                  <a:pt x="4155171" y="1976375"/>
                </a:lnTo>
                <a:lnTo>
                  <a:pt x="0" y="19763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2882" b="-472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0086" y="4469190"/>
            <a:ext cx="3763514" cy="1866247"/>
          </a:xfrm>
          <a:custGeom>
            <a:avLst/>
            <a:gdLst/>
            <a:ahLst/>
            <a:cxnLst/>
            <a:rect l="l" t="t" r="r" b="b"/>
            <a:pathLst>
              <a:path w="3763514" h="1866247">
                <a:moveTo>
                  <a:pt x="0" y="0"/>
                </a:moveTo>
                <a:lnTo>
                  <a:pt x="3763514" y="0"/>
                </a:lnTo>
                <a:lnTo>
                  <a:pt x="3763514" y="1866247"/>
                </a:lnTo>
                <a:lnTo>
                  <a:pt x="0" y="18662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030" r="-1064" b="-724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423600" y="8150369"/>
            <a:ext cx="3929485" cy="1914626"/>
          </a:xfrm>
          <a:custGeom>
            <a:avLst/>
            <a:gdLst/>
            <a:ahLst/>
            <a:cxnLst/>
            <a:rect l="l" t="t" r="r" b="b"/>
            <a:pathLst>
              <a:path w="3929485" h="1914626">
                <a:moveTo>
                  <a:pt x="0" y="0"/>
                </a:moveTo>
                <a:lnTo>
                  <a:pt x="3929485" y="0"/>
                </a:lnTo>
                <a:lnTo>
                  <a:pt x="3929485" y="1914626"/>
                </a:lnTo>
                <a:lnTo>
                  <a:pt x="0" y="19146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378" r="-717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483095" y="5629775"/>
            <a:ext cx="3979089" cy="1870961"/>
          </a:xfrm>
          <a:custGeom>
            <a:avLst/>
            <a:gdLst/>
            <a:ahLst/>
            <a:cxnLst/>
            <a:rect l="l" t="t" r="r" b="b"/>
            <a:pathLst>
              <a:path w="3979089" h="1870961">
                <a:moveTo>
                  <a:pt x="0" y="0"/>
                </a:moveTo>
                <a:lnTo>
                  <a:pt x="3979090" y="0"/>
                </a:lnTo>
                <a:lnTo>
                  <a:pt x="3979090" y="1870962"/>
                </a:lnTo>
                <a:lnTo>
                  <a:pt x="0" y="1870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830" t="-6004" r="-4988" b="-5818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2340" y="7211737"/>
            <a:ext cx="3826372" cy="1830513"/>
          </a:xfrm>
          <a:custGeom>
            <a:avLst/>
            <a:gdLst/>
            <a:ahLst/>
            <a:cxnLst/>
            <a:rect l="l" t="t" r="r" b="b"/>
            <a:pathLst>
              <a:path w="3826372" h="1830513">
                <a:moveTo>
                  <a:pt x="0" y="0"/>
                </a:moveTo>
                <a:lnTo>
                  <a:pt x="3826371" y="0"/>
                </a:lnTo>
                <a:lnTo>
                  <a:pt x="3826371" y="1830513"/>
                </a:lnTo>
                <a:lnTo>
                  <a:pt x="0" y="18305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806" r="-1324" b="-461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824183" y="1663708"/>
            <a:ext cx="8085376" cy="8044949"/>
          </a:xfrm>
          <a:custGeom>
            <a:avLst/>
            <a:gdLst/>
            <a:ahLst/>
            <a:cxnLst/>
            <a:rect l="l" t="t" r="r" b="b"/>
            <a:pathLst>
              <a:path w="8085376" h="8044949">
                <a:moveTo>
                  <a:pt x="0" y="0"/>
                </a:moveTo>
                <a:lnTo>
                  <a:pt x="8085377" y="0"/>
                </a:lnTo>
                <a:lnTo>
                  <a:pt x="8085377" y="8044949"/>
                </a:lnTo>
                <a:lnTo>
                  <a:pt x="0" y="80449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527" y="9861400"/>
            <a:ext cx="1437713" cy="50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14"/>
              </a:lnSpc>
            </a:pPr>
            <a:r>
              <a:rPr lang="en-US" sz="2938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29281" y="573032"/>
            <a:ext cx="7662800" cy="69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4"/>
              </a:lnSpc>
              <a:spcBef>
                <a:spcPct val="0"/>
              </a:spcBef>
            </a:pPr>
            <a:r>
              <a:rPr lang="en-US" sz="4082" b="1" spc="881">
                <a:solidFill>
                  <a:srgbClr val="49417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Technical Approach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92081" y="1859998"/>
            <a:ext cx="6949581" cy="728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7"/>
              </a:lnSpc>
              <a:spcBef>
                <a:spcPct val="0"/>
              </a:spcBef>
            </a:pPr>
            <a:r>
              <a:rPr lang="en-US" sz="2676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Technology Stack</a:t>
            </a:r>
          </a:p>
          <a:p>
            <a:pPr algn="ctr">
              <a:lnSpc>
                <a:spcPts val="2903"/>
              </a:lnSpc>
              <a:spcBef>
                <a:spcPct val="0"/>
              </a:spcBef>
            </a:pPr>
            <a:endParaRPr lang="en-US" sz="2676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🎨 </a:t>
            </a:r>
            <a:r>
              <a:rPr lang="en-US" sz="21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  <a:p>
            <a:pPr algn="l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React.js</a:t>
            </a:r>
          </a:p>
          <a:p>
            <a:pPr algn="l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HTML, CSS, JavaScript</a:t>
            </a:r>
          </a:p>
          <a:p>
            <a:pPr algn="l">
              <a:lnSpc>
                <a:spcPts val="3072"/>
              </a:lnSpc>
            </a:pPr>
            <a:endParaRPr lang="en-US" sz="21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r">
              <a:lnSpc>
                <a:spcPts val="3072"/>
              </a:lnSpc>
            </a:pPr>
            <a:r>
              <a:rPr lang="en-US" sz="21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⚙️ Backend</a:t>
            </a:r>
          </a:p>
          <a:p>
            <a:pPr algn="r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Node.js      </a:t>
            </a:r>
          </a:p>
          <a:p>
            <a:pPr algn="r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Express.js </a:t>
            </a:r>
          </a:p>
          <a:p>
            <a:pPr algn="l">
              <a:lnSpc>
                <a:spcPts val="3072"/>
              </a:lnSpc>
            </a:pPr>
            <a:r>
              <a:rPr lang="en-US" sz="21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☁️ Database</a:t>
            </a:r>
          </a:p>
          <a:p>
            <a:pPr algn="l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Firebase </a:t>
            </a:r>
            <a:r>
              <a:rPr lang="en-US" sz="2194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Firestore</a:t>
            </a: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/ MongoDB</a:t>
            </a:r>
          </a:p>
          <a:p>
            <a:pPr algn="l">
              <a:lnSpc>
                <a:spcPts val="3072"/>
              </a:lnSpc>
            </a:pPr>
            <a:endParaRPr lang="en-US" sz="21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r">
              <a:lnSpc>
                <a:spcPts val="3072"/>
              </a:lnSpc>
            </a:pPr>
            <a:r>
              <a:rPr lang="en-US" sz="21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🔐 Authentication</a:t>
            </a:r>
          </a:p>
          <a:p>
            <a:pPr algn="r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Institutional Email Login</a:t>
            </a:r>
          </a:p>
          <a:p>
            <a:pPr algn="r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• Firebase Authentication</a:t>
            </a:r>
          </a:p>
          <a:p>
            <a:pPr algn="l">
              <a:lnSpc>
                <a:spcPts val="3072"/>
              </a:lnSpc>
            </a:pPr>
            <a:endParaRPr lang="en-US" sz="21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072"/>
              </a:lnSpc>
            </a:pPr>
            <a:r>
              <a:rPr lang="en-US" sz="219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🚀 Deployment</a:t>
            </a:r>
          </a:p>
          <a:p>
            <a:pPr algn="l">
              <a:lnSpc>
                <a:spcPts val="3072"/>
              </a:lnSpc>
            </a:pPr>
            <a:r>
              <a:rPr lang="en-US" sz="219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• </a:t>
            </a:r>
            <a:r>
              <a:rPr lang="en-US" sz="2194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Vercel</a:t>
            </a:r>
            <a:endParaRPr lang="en-US" sz="21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072"/>
              </a:lnSpc>
            </a:pPr>
            <a:endParaRPr lang="en-US" sz="2194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3351197" y="7229365"/>
            <a:ext cx="7476899" cy="7132400"/>
          </a:xfrm>
          <a:custGeom>
            <a:avLst/>
            <a:gdLst/>
            <a:ahLst/>
            <a:cxnLst/>
            <a:rect l="l" t="t" r="r" b="b"/>
            <a:pathLst>
              <a:path w="7476899" h="7132400">
                <a:moveTo>
                  <a:pt x="0" y="0"/>
                </a:moveTo>
                <a:lnTo>
                  <a:pt x="7476899" y="0"/>
                </a:lnTo>
                <a:lnTo>
                  <a:pt x="7476899" y="7132399"/>
                </a:lnTo>
                <a:lnTo>
                  <a:pt x="0" y="71323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AutoShape 18"/>
          <p:cNvSpPr/>
          <p:nvPr/>
        </p:nvSpPr>
        <p:spPr>
          <a:xfrm>
            <a:off x="11956600" y="2393933"/>
            <a:ext cx="382054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554440" y="9537550"/>
            <a:ext cx="211292" cy="467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7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964256" y="180923"/>
            <a:ext cx="1965144" cy="1958980"/>
          </a:xfrm>
          <a:custGeom>
            <a:avLst/>
            <a:gdLst/>
            <a:ahLst/>
            <a:cxnLst/>
            <a:rect l="l" t="t" r="r" b="b"/>
            <a:pathLst>
              <a:path w="1965144" h="1958980">
                <a:moveTo>
                  <a:pt x="0" y="0"/>
                </a:moveTo>
                <a:lnTo>
                  <a:pt x="1965144" y="0"/>
                </a:lnTo>
                <a:lnTo>
                  <a:pt x="1965144" y="1958980"/>
                </a:lnTo>
                <a:lnTo>
                  <a:pt x="0" y="195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28020"/>
            <a:ext cx="1965144" cy="1958980"/>
          </a:xfrm>
          <a:custGeom>
            <a:avLst/>
            <a:gdLst/>
            <a:ahLst/>
            <a:cxnLst/>
            <a:rect l="l" t="t" r="r" b="b"/>
            <a:pathLst>
              <a:path w="1965144" h="1958980">
                <a:moveTo>
                  <a:pt x="0" y="0"/>
                </a:moveTo>
                <a:lnTo>
                  <a:pt x="1965144" y="0"/>
                </a:lnTo>
                <a:lnTo>
                  <a:pt x="1965144" y="1958980"/>
                </a:lnTo>
                <a:lnTo>
                  <a:pt x="0" y="195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871713" y="8818387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074324" y="7460884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3"/>
                </a:lnTo>
                <a:lnTo>
                  <a:pt x="0" y="13575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529691" y="6582224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24409" y="-305671"/>
            <a:ext cx="2886183" cy="2753202"/>
          </a:xfrm>
          <a:custGeom>
            <a:avLst/>
            <a:gdLst/>
            <a:ahLst/>
            <a:cxnLst/>
            <a:rect l="l" t="t" r="r" b="b"/>
            <a:pathLst>
              <a:path w="2886183" h="2753202">
                <a:moveTo>
                  <a:pt x="0" y="0"/>
                </a:moveTo>
                <a:lnTo>
                  <a:pt x="2886184" y="0"/>
                </a:lnTo>
                <a:lnTo>
                  <a:pt x="2886184" y="2753203"/>
                </a:lnTo>
                <a:lnTo>
                  <a:pt x="0" y="2753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63889" y="5602734"/>
            <a:ext cx="1965144" cy="1958980"/>
          </a:xfrm>
          <a:custGeom>
            <a:avLst/>
            <a:gdLst/>
            <a:ahLst/>
            <a:cxnLst/>
            <a:rect l="l" t="t" r="r" b="b"/>
            <a:pathLst>
              <a:path w="1965144" h="1958980">
                <a:moveTo>
                  <a:pt x="0" y="0"/>
                </a:moveTo>
                <a:lnTo>
                  <a:pt x="1965144" y="0"/>
                </a:lnTo>
                <a:lnTo>
                  <a:pt x="1965144" y="1958980"/>
                </a:lnTo>
                <a:lnTo>
                  <a:pt x="0" y="1958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97388" y="2139903"/>
            <a:ext cx="4284895" cy="5935633"/>
          </a:xfrm>
          <a:custGeom>
            <a:avLst/>
            <a:gdLst/>
            <a:ahLst/>
            <a:cxnLst/>
            <a:rect l="l" t="t" r="r" b="b"/>
            <a:pathLst>
              <a:path w="4284895" h="5935633">
                <a:moveTo>
                  <a:pt x="0" y="0"/>
                </a:moveTo>
                <a:lnTo>
                  <a:pt x="4284895" y="0"/>
                </a:lnTo>
                <a:lnTo>
                  <a:pt x="4284895" y="5935633"/>
                </a:lnTo>
                <a:lnTo>
                  <a:pt x="0" y="593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39458" y="4273258"/>
            <a:ext cx="4923833" cy="5500027"/>
          </a:xfrm>
          <a:custGeom>
            <a:avLst/>
            <a:gdLst/>
            <a:ahLst/>
            <a:cxnLst/>
            <a:rect l="l" t="t" r="r" b="b"/>
            <a:pathLst>
              <a:path w="4923833" h="5500027">
                <a:moveTo>
                  <a:pt x="0" y="0"/>
                </a:moveTo>
                <a:lnTo>
                  <a:pt x="4923834" y="0"/>
                </a:lnTo>
                <a:lnTo>
                  <a:pt x="4923834" y="5500027"/>
                </a:lnTo>
                <a:lnTo>
                  <a:pt x="0" y="55000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520467" y="2326685"/>
            <a:ext cx="5579969" cy="4934290"/>
          </a:xfrm>
          <a:custGeom>
            <a:avLst/>
            <a:gdLst/>
            <a:ahLst/>
            <a:cxnLst/>
            <a:rect l="l" t="t" r="r" b="b"/>
            <a:pathLst>
              <a:path w="5579969" h="4934290">
                <a:moveTo>
                  <a:pt x="0" y="0"/>
                </a:moveTo>
                <a:lnTo>
                  <a:pt x="5579969" y="0"/>
                </a:lnTo>
                <a:lnTo>
                  <a:pt x="5579969" y="4934290"/>
                </a:lnTo>
                <a:lnTo>
                  <a:pt x="0" y="4934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977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427589" y="9706610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47879" y="-817090"/>
            <a:ext cx="14316607" cy="3817928"/>
            <a:chOff x="0" y="0"/>
            <a:chExt cx="19088809" cy="5090571"/>
          </a:xfrm>
        </p:grpSpPr>
        <p:sp>
          <p:nvSpPr>
            <p:cNvPr id="15" name="TextBox 15"/>
            <p:cNvSpPr txBox="1"/>
            <p:nvPr/>
          </p:nvSpPr>
          <p:spPr>
            <a:xfrm>
              <a:off x="0" y="1428750"/>
              <a:ext cx="19088809" cy="36618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045"/>
                </a:lnSpc>
              </a:pPr>
              <a:r>
                <a:rPr lang="en-US" sz="25075" b="1" spc="-1905">
                  <a:solidFill>
                    <a:srgbClr val="BC72E5"/>
                  </a:solidFill>
                  <a:latin typeface="Roca Two Heavy"/>
                  <a:ea typeface="Roca Two Heavy"/>
                  <a:cs typeface="Roca Two Heavy"/>
                  <a:sym typeface="Roca Two Heavy"/>
                </a:rPr>
                <a:t>user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86294" y="3753632"/>
              <a:ext cx="15916221" cy="1150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50"/>
                </a:lnSpc>
              </a:pPr>
              <a:r>
                <a:rPr lang="en-US" sz="5590" spc="838">
                  <a:solidFill>
                    <a:srgbClr val="9DAFBF"/>
                  </a:solidFill>
                  <a:latin typeface="SK Concretica"/>
                  <a:ea typeface="SK Concretica"/>
                  <a:cs typeface="SK Concretica"/>
                  <a:sym typeface="SK Concretica"/>
                </a:rPr>
                <a:t>MANUAL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8126" y="-926913"/>
            <a:ext cx="2613651" cy="2605453"/>
          </a:xfrm>
          <a:custGeom>
            <a:avLst/>
            <a:gdLst/>
            <a:ahLst/>
            <a:cxnLst/>
            <a:rect l="l" t="t" r="r" b="b"/>
            <a:pathLst>
              <a:path w="2613651" h="2605453">
                <a:moveTo>
                  <a:pt x="0" y="0"/>
                </a:moveTo>
                <a:lnTo>
                  <a:pt x="2613652" y="0"/>
                </a:lnTo>
                <a:lnTo>
                  <a:pt x="2613652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27914" y="636457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760140" y="3188786"/>
            <a:ext cx="16599214" cy="5607120"/>
            <a:chOff x="0" y="0"/>
            <a:chExt cx="4371810" cy="14767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71810" cy="1476772"/>
            </a:xfrm>
            <a:custGeom>
              <a:avLst/>
              <a:gdLst/>
              <a:ahLst/>
              <a:cxnLst/>
              <a:rect l="l" t="t" r="r" b="b"/>
              <a:pathLst>
                <a:path w="4371810" h="1476772">
                  <a:moveTo>
                    <a:pt x="23787" y="0"/>
                  </a:moveTo>
                  <a:lnTo>
                    <a:pt x="4348023" y="0"/>
                  </a:lnTo>
                  <a:cubicBezTo>
                    <a:pt x="4361160" y="0"/>
                    <a:pt x="4371810" y="10650"/>
                    <a:pt x="4371810" y="23787"/>
                  </a:cubicBezTo>
                  <a:lnTo>
                    <a:pt x="4371810" y="1452986"/>
                  </a:lnTo>
                  <a:cubicBezTo>
                    <a:pt x="4371810" y="1459294"/>
                    <a:pt x="4369303" y="1465344"/>
                    <a:pt x="4364842" y="1469805"/>
                  </a:cubicBezTo>
                  <a:cubicBezTo>
                    <a:pt x="4360382" y="1474266"/>
                    <a:pt x="4354332" y="1476772"/>
                    <a:pt x="4348023" y="1476772"/>
                  </a:cubicBezTo>
                  <a:lnTo>
                    <a:pt x="23787" y="1476772"/>
                  </a:lnTo>
                  <a:cubicBezTo>
                    <a:pt x="17478" y="1476772"/>
                    <a:pt x="11428" y="1474266"/>
                    <a:pt x="6967" y="1469805"/>
                  </a:cubicBezTo>
                  <a:cubicBezTo>
                    <a:pt x="2506" y="1465344"/>
                    <a:pt x="0" y="1459294"/>
                    <a:pt x="0" y="1452986"/>
                  </a:cubicBezTo>
                  <a:lnTo>
                    <a:pt x="0" y="23787"/>
                  </a:lnTo>
                  <a:cubicBezTo>
                    <a:pt x="0" y="17478"/>
                    <a:pt x="2506" y="11428"/>
                    <a:pt x="6967" y="6967"/>
                  </a:cubicBezTo>
                  <a:cubicBezTo>
                    <a:pt x="11428" y="2506"/>
                    <a:pt x="17478" y="0"/>
                    <a:pt x="2378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B644DD">
                    <a:alpha val="100000"/>
                  </a:srgbClr>
                </a:gs>
                <a:gs pos="50000">
                  <a:srgbClr val="692390">
                    <a:alpha val="100000"/>
                  </a:srgbClr>
                </a:gs>
                <a:gs pos="100000">
                  <a:srgbClr val="522FB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371810" cy="15148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958639" y="-1199005"/>
            <a:ext cx="3509202" cy="2877545"/>
          </a:xfrm>
          <a:custGeom>
            <a:avLst/>
            <a:gdLst/>
            <a:ahLst/>
            <a:cxnLst/>
            <a:rect l="l" t="t" r="r" b="b"/>
            <a:pathLst>
              <a:path w="3509202" h="2877545">
                <a:moveTo>
                  <a:pt x="0" y="0"/>
                </a:moveTo>
                <a:lnTo>
                  <a:pt x="3509201" y="0"/>
                </a:lnTo>
                <a:lnTo>
                  <a:pt x="3509201" y="2877545"/>
                </a:lnTo>
                <a:lnTo>
                  <a:pt x="0" y="2877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5566" y="6345407"/>
            <a:ext cx="5252356" cy="154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Institutional verification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creates trusted profiles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with skills, interests and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achievements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24937" y="3355833"/>
            <a:ext cx="4134810" cy="1581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SKILL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COMPATIBILITY SCORE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8793" y="6731626"/>
            <a:ext cx="4799246" cy="154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Students find relevant opportunities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Clubs/Projects find    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suitable talent </a:t>
            </a:r>
          </a:p>
        </p:txBody>
      </p:sp>
      <p:sp>
        <p:nvSpPr>
          <p:cNvPr id="11" name="AutoShape 11"/>
          <p:cNvSpPr/>
          <p:nvPr/>
        </p:nvSpPr>
        <p:spPr>
          <a:xfrm flipV="1">
            <a:off x="5206019" y="3364694"/>
            <a:ext cx="19050" cy="53547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8921593" y="3364761"/>
            <a:ext cx="19050" cy="53547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2637167" y="3364829"/>
            <a:ext cx="19050" cy="535473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2335526" y="3550555"/>
            <a:ext cx="1252331" cy="1386413"/>
          </a:xfrm>
          <a:custGeom>
            <a:avLst/>
            <a:gdLst/>
            <a:ahLst/>
            <a:cxnLst/>
            <a:rect l="l" t="t" r="r" b="b"/>
            <a:pathLst>
              <a:path w="1252331" h="1386413">
                <a:moveTo>
                  <a:pt x="0" y="0"/>
                </a:moveTo>
                <a:lnTo>
                  <a:pt x="1252330" y="0"/>
                </a:lnTo>
                <a:lnTo>
                  <a:pt x="1252330" y="1386413"/>
                </a:lnTo>
                <a:lnTo>
                  <a:pt x="0" y="1386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6083115" y="7129839"/>
            <a:ext cx="1772412" cy="1666067"/>
          </a:xfrm>
          <a:custGeom>
            <a:avLst/>
            <a:gdLst/>
            <a:ahLst/>
            <a:cxnLst/>
            <a:rect l="l" t="t" r="r" b="b"/>
            <a:pathLst>
              <a:path w="1772412" h="1666067">
                <a:moveTo>
                  <a:pt x="0" y="0"/>
                </a:moveTo>
                <a:lnTo>
                  <a:pt x="1772412" y="0"/>
                </a:lnTo>
                <a:lnTo>
                  <a:pt x="1772412" y="1666067"/>
                </a:lnTo>
                <a:lnTo>
                  <a:pt x="0" y="16660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844467">
            <a:off x="13993256" y="7275403"/>
            <a:ext cx="2061238" cy="1030619"/>
          </a:xfrm>
          <a:custGeom>
            <a:avLst/>
            <a:gdLst/>
            <a:ahLst/>
            <a:cxnLst/>
            <a:rect l="l" t="t" r="r" b="b"/>
            <a:pathLst>
              <a:path w="2061238" h="1030619">
                <a:moveTo>
                  <a:pt x="0" y="0"/>
                </a:moveTo>
                <a:lnTo>
                  <a:pt x="2061238" y="0"/>
                </a:lnTo>
                <a:lnTo>
                  <a:pt x="2061238" y="1030619"/>
                </a:lnTo>
                <a:lnTo>
                  <a:pt x="0" y="1030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2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064729" y="3679676"/>
            <a:ext cx="1548406" cy="1440018"/>
          </a:xfrm>
          <a:custGeom>
            <a:avLst/>
            <a:gdLst/>
            <a:ahLst/>
            <a:cxnLst/>
            <a:rect l="l" t="t" r="r" b="b"/>
            <a:pathLst>
              <a:path w="1548406" h="1440018">
                <a:moveTo>
                  <a:pt x="0" y="0"/>
                </a:moveTo>
                <a:lnTo>
                  <a:pt x="1548406" y="0"/>
                </a:lnTo>
                <a:lnTo>
                  <a:pt x="1548406" y="1440018"/>
                </a:lnTo>
                <a:lnTo>
                  <a:pt x="0" y="14400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6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546297" y="9537206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991028" y="9829306"/>
            <a:ext cx="1296972" cy="45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1"/>
              </a:lnSpc>
            </a:pPr>
            <a:r>
              <a:rPr lang="en-US" sz="2650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5525" y="1564240"/>
            <a:ext cx="13457342" cy="9296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5400" dirty="0">
                <a:solidFill>
                  <a:srgbClr val="722AB3"/>
                </a:solidFill>
                <a:latin typeface="Trend Slab Four"/>
                <a:ea typeface="Trend Slab Four"/>
                <a:cs typeface="Trend Slab Four"/>
                <a:sym typeface="Trend Slab Four"/>
              </a:rPr>
              <a:t>Innovation and Uniqueness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36161" y="5240509"/>
            <a:ext cx="3736376" cy="104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VERIFIED 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 PROFILES</a:t>
            </a:r>
            <a:r>
              <a:rPr lang="en-US" sz="30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059748" y="5240509"/>
            <a:ext cx="3378823" cy="104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TWO-WAY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DISCOVERY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474933" y="3622526"/>
            <a:ext cx="3321546" cy="104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CONNECTED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ECOSYSTEM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474933" y="5165562"/>
            <a:ext cx="4635869" cy="154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Clubs and projects stay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independent, connected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through students, skills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and interests.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06019" y="5105400"/>
            <a:ext cx="3734624" cy="193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Provides a percentage-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based match between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students skills and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opportunities</a:t>
            </a:r>
          </a:p>
          <a:p>
            <a:pPr algn="ctr">
              <a:lnSpc>
                <a:spcPts val="3080"/>
              </a:lnSpc>
            </a:pPr>
            <a:r>
              <a:rPr lang="en-US" sz="2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requirements</a:t>
            </a: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259300" y="636457"/>
            <a:ext cx="1688786" cy="1736540"/>
          </a:xfrm>
          <a:custGeom>
            <a:avLst/>
            <a:gdLst/>
            <a:ahLst/>
            <a:cxnLst/>
            <a:rect l="l" t="t" r="r" b="b"/>
            <a:pathLst>
              <a:path w="1688786" h="1736540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45185" y="322795"/>
            <a:ext cx="4132054" cy="7313371"/>
          </a:xfrm>
          <a:custGeom>
            <a:avLst/>
            <a:gdLst/>
            <a:ahLst/>
            <a:cxnLst/>
            <a:rect l="l" t="t" r="r" b="b"/>
            <a:pathLst>
              <a:path w="4132054" h="7313371">
                <a:moveTo>
                  <a:pt x="0" y="0"/>
                </a:moveTo>
                <a:lnTo>
                  <a:pt x="4132054" y="0"/>
                </a:lnTo>
                <a:lnTo>
                  <a:pt x="4132054" y="7313370"/>
                </a:lnTo>
                <a:lnTo>
                  <a:pt x="0" y="73133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300890" y="7605422"/>
            <a:ext cx="3031394" cy="3163694"/>
          </a:xfrm>
          <a:custGeom>
            <a:avLst/>
            <a:gdLst/>
            <a:ahLst/>
            <a:cxnLst/>
            <a:rect l="l" t="t" r="r" b="b"/>
            <a:pathLst>
              <a:path w="3031394" h="3163694">
                <a:moveTo>
                  <a:pt x="0" y="0"/>
                </a:moveTo>
                <a:lnTo>
                  <a:pt x="3031394" y="0"/>
                </a:lnTo>
                <a:lnTo>
                  <a:pt x="3031394" y="3163694"/>
                </a:lnTo>
                <a:lnTo>
                  <a:pt x="0" y="31636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-361148"/>
            <a:ext cx="1688786" cy="1736540"/>
          </a:xfrm>
          <a:custGeom>
            <a:avLst/>
            <a:gdLst/>
            <a:ahLst/>
            <a:cxnLst/>
            <a:rect l="l" t="t" r="r" b="b"/>
            <a:pathLst>
              <a:path w="1688786" h="1736540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066230" y="4691545"/>
            <a:ext cx="5142137" cy="2913878"/>
          </a:xfrm>
          <a:custGeom>
            <a:avLst/>
            <a:gdLst/>
            <a:ahLst/>
            <a:cxnLst/>
            <a:rect l="l" t="t" r="r" b="b"/>
            <a:pathLst>
              <a:path w="5142137" h="2913878">
                <a:moveTo>
                  <a:pt x="0" y="0"/>
                </a:moveTo>
                <a:lnTo>
                  <a:pt x="5142137" y="0"/>
                </a:lnTo>
                <a:lnTo>
                  <a:pt x="5142137" y="2913877"/>
                </a:lnTo>
                <a:lnTo>
                  <a:pt x="0" y="2913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72224" y="1375392"/>
            <a:ext cx="5635229" cy="2931158"/>
            <a:chOff x="0" y="0"/>
            <a:chExt cx="7513638" cy="39082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13638" cy="3908211"/>
            </a:xfrm>
            <a:custGeom>
              <a:avLst/>
              <a:gdLst/>
              <a:ahLst/>
              <a:cxnLst/>
              <a:rect l="l" t="t" r="r" b="b"/>
              <a:pathLst>
                <a:path w="7513638" h="3908211">
                  <a:moveTo>
                    <a:pt x="0" y="0"/>
                  </a:moveTo>
                  <a:lnTo>
                    <a:pt x="7513638" y="0"/>
                  </a:lnTo>
                  <a:lnTo>
                    <a:pt x="7513638" y="3908211"/>
                  </a:lnTo>
                  <a:lnTo>
                    <a:pt x="0" y="3908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4" r="-1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372366" y="86453"/>
              <a:ext cx="6768906" cy="33937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73"/>
                </a:lnSpc>
                <a:spcBef>
                  <a:spcPct val="0"/>
                </a:spcBef>
              </a:pPr>
              <a:r>
                <a:rPr lang="en-US" sz="2266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Why This MVP?</a:t>
              </a:r>
            </a:p>
            <a:p>
              <a:pPr algn="ctr">
                <a:lnSpc>
                  <a:spcPts val="2893"/>
                </a:lnSpc>
                <a:spcBef>
                  <a:spcPct val="0"/>
                </a:spcBef>
              </a:pPr>
              <a:r>
                <a:rPr lang="en-US" sz="206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✅ Solves the core problem</a:t>
              </a:r>
            </a:p>
            <a:p>
              <a:pPr algn="ctr">
                <a:lnSpc>
                  <a:spcPts val="2893"/>
                </a:lnSpc>
                <a:spcBef>
                  <a:spcPct val="0"/>
                </a:spcBef>
              </a:pPr>
              <a:r>
                <a:rPr lang="en-US" sz="206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✅ Demonstrates team formation workflow</a:t>
              </a:r>
            </a:p>
            <a:p>
              <a:pPr algn="ctr">
                <a:lnSpc>
                  <a:spcPts val="2893"/>
                </a:lnSpc>
                <a:spcBef>
                  <a:spcPct val="0"/>
                </a:spcBef>
              </a:pPr>
              <a:r>
                <a:rPr lang="en-US" sz="206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✅ Realistic to build during a hackathon</a:t>
              </a:r>
            </a:p>
            <a:p>
              <a:pPr algn="ctr">
                <a:lnSpc>
                  <a:spcPts val="2893"/>
                </a:lnSpc>
                <a:spcBef>
                  <a:spcPct val="0"/>
                </a:spcBef>
              </a:pPr>
              <a:r>
                <a:rPr lang="en-US" sz="206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✅ Provides immediate value to students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977657" y="711779"/>
            <a:ext cx="4132054" cy="674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3"/>
              </a:lnSpc>
            </a:pPr>
            <a:r>
              <a:rPr lang="en-US" sz="1866" b="1" spc="1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We Will Build   </a:t>
            </a:r>
          </a:p>
          <a:p>
            <a:pPr algn="ctr">
              <a:lnSpc>
                <a:spcPts val="2449"/>
              </a:lnSpc>
            </a:pPr>
            <a:endParaRPr lang="en-US" sz="1866" b="1" spc="184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Student Profiles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Skills &amp; Interests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Availability Experience &amp; Preferred Roles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Talent Discovery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Search Students by Skills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Explore Potential Teammates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Smart Match Score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Compatibility Percentage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Team Recommendations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Team Formation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Teams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Join Teams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Invite Members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Projects &amp; Research Hub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Project Listings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to Opportunities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Communication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Team Chat</a:t>
            </a:r>
          </a:p>
          <a:p>
            <a:pPr algn="l">
              <a:lnSpc>
                <a:spcPts val="2449"/>
              </a:lnSpc>
            </a:pPr>
            <a:r>
              <a:rPr lang="en-US" sz="1666" spc="16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Direct Messaging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69560" y="9563748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24892" y="6400676"/>
            <a:ext cx="100260" cy="53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3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2173"/>
              </a:lnSpc>
              <a:spcBef>
                <a:spcPct val="0"/>
              </a:spcBef>
            </a:pPr>
            <a:r>
              <a:rPr lang="en-US" sz="155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·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156081" y="8024748"/>
            <a:ext cx="13144809" cy="1586625"/>
            <a:chOff x="0" y="0"/>
            <a:chExt cx="17526412" cy="2115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526412" cy="2115500"/>
            </a:xfrm>
            <a:custGeom>
              <a:avLst/>
              <a:gdLst/>
              <a:ahLst/>
              <a:cxnLst/>
              <a:rect l="l" t="t" r="r" b="b"/>
              <a:pathLst>
                <a:path w="17526412" h="2115500">
                  <a:moveTo>
                    <a:pt x="0" y="0"/>
                  </a:moveTo>
                  <a:lnTo>
                    <a:pt x="17526412" y="0"/>
                  </a:lnTo>
                  <a:lnTo>
                    <a:pt x="17526412" y="2115500"/>
                  </a:lnTo>
                  <a:lnTo>
                    <a:pt x="0" y="211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448" t="-156668" b="-17956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92970" y="390988"/>
              <a:ext cx="16050148" cy="1004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💡 Our MVP focuses on one goal: helping students discover the right teammates and form effective teams quickly and efficiently.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7485902" y="322795"/>
            <a:ext cx="4922137" cy="3867979"/>
          </a:xfrm>
          <a:custGeom>
            <a:avLst/>
            <a:gdLst/>
            <a:ahLst/>
            <a:cxnLst/>
            <a:rect l="l" t="t" r="r" b="b"/>
            <a:pathLst>
              <a:path w="4922137" h="3867979">
                <a:moveTo>
                  <a:pt x="0" y="0"/>
                </a:moveTo>
                <a:lnTo>
                  <a:pt x="4922136" y="0"/>
                </a:lnTo>
                <a:lnTo>
                  <a:pt x="4922136" y="3867979"/>
                </a:lnTo>
                <a:lnTo>
                  <a:pt x="0" y="38679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16"/>
            </a:stretch>
          </a:blipFill>
        </p:spPr>
      </p:sp>
      <p:sp>
        <p:nvSpPr>
          <p:cNvPr id="17" name="Freeform 17"/>
          <p:cNvSpPr/>
          <p:nvPr/>
        </p:nvSpPr>
        <p:spPr>
          <a:xfrm rot="1827038">
            <a:off x="-17033" y="5060383"/>
            <a:ext cx="2365645" cy="3244803"/>
          </a:xfrm>
          <a:custGeom>
            <a:avLst/>
            <a:gdLst/>
            <a:ahLst/>
            <a:cxnLst/>
            <a:rect l="l" t="t" r="r" b="b"/>
            <a:pathLst>
              <a:path w="2365645" h="3244803">
                <a:moveTo>
                  <a:pt x="0" y="0"/>
                </a:moveTo>
                <a:lnTo>
                  <a:pt x="2365645" y="0"/>
                </a:lnTo>
                <a:lnTo>
                  <a:pt x="2365645" y="3244803"/>
                </a:lnTo>
                <a:lnTo>
                  <a:pt x="0" y="32448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4411454" y="5244671"/>
            <a:ext cx="6148895" cy="1841957"/>
            <a:chOff x="0" y="0"/>
            <a:chExt cx="8198527" cy="2455942"/>
          </a:xfrm>
        </p:grpSpPr>
        <p:sp>
          <p:nvSpPr>
            <p:cNvPr id="19" name="TextBox 19"/>
            <p:cNvSpPr txBox="1"/>
            <p:nvPr/>
          </p:nvSpPr>
          <p:spPr>
            <a:xfrm>
              <a:off x="4425938" y="243943"/>
              <a:ext cx="0" cy="378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0"/>
                </a:lnSpc>
              </a:pPr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209550"/>
              <a:ext cx="8198527" cy="22463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69"/>
                </a:lnSpc>
              </a:pPr>
              <a:r>
                <a:rPr lang="en-US" sz="7057" spc="-162">
                  <a:solidFill>
                    <a:srgbClr val="8B61C2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MVP</a:t>
              </a:r>
            </a:p>
            <a:p>
              <a:pPr algn="ctr">
                <a:lnSpc>
                  <a:spcPts val="6069"/>
                </a:lnSpc>
              </a:pPr>
              <a:r>
                <a:rPr lang="en-US" sz="7057" spc="-162">
                  <a:solidFill>
                    <a:srgbClr val="8B61C2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 PITCH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7109711" y="9871840"/>
            <a:ext cx="1190088" cy="41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5"/>
              </a:lnSpc>
            </a:pPr>
            <a:r>
              <a:rPr lang="en-US" sz="2432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-676108" y="9940355"/>
            <a:ext cx="7469033" cy="297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>
                    <a:alpha val="57647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MVP-Minimum Viable Product</a:t>
            </a: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60335" y="-621250"/>
            <a:ext cx="2794608" cy="2873633"/>
          </a:xfrm>
          <a:custGeom>
            <a:avLst/>
            <a:gdLst/>
            <a:ahLst/>
            <a:cxnLst/>
            <a:rect l="l" t="t" r="r" b="b"/>
            <a:pathLst>
              <a:path w="2794608" h="2873633">
                <a:moveTo>
                  <a:pt x="0" y="0"/>
                </a:moveTo>
                <a:lnTo>
                  <a:pt x="2794609" y="0"/>
                </a:lnTo>
                <a:lnTo>
                  <a:pt x="2794609" y="2873633"/>
                </a:lnTo>
                <a:lnTo>
                  <a:pt x="0" y="28736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381581">
            <a:off x="-402974" y="7613660"/>
            <a:ext cx="2863347" cy="2820397"/>
          </a:xfrm>
          <a:custGeom>
            <a:avLst/>
            <a:gdLst/>
            <a:ahLst/>
            <a:cxnLst/>
            <a:rect l="l" t="t" r="r" b="b"/>
            <a:pathLst>
              <a:path w="2863347" h="2820397">
                <a:moveTo>
                  <a:pt x="0" y="0"/>
                </a:moveTo>
                <a:lnTo>
                  <a:pt x="2863348" y="0"/>
                </a:lnTo>
                <a:lnTo>
                  <a:pt x="2863348" y="2820397"/>
                </a:lnTo>
                <a:lnTo>
                  <a:pt x="0" y="28203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45692" y="-137673"/>
            <a:ext cx="3278736" cy="3256878"/>
          </a:xfrm>
          <a:custGeom>
            <a:avLst/>
            <a:gdLst/>
            <a:ahLst/>
            <a:cxnLst/>
            <a:rect l="l" t="t" r="r" b="b"/>
            <a:pathLst>
              <a:path w="3278736" h="3256878">
                <a:moveTo>
                  <a:pt x="0" y="0"/>
                </a:moveTo>
                <a:lnTo>
                  <a:pt x="3278736" y="0"/>
                </a:lnTo>
                <a:lnTo>
                  <a:pt x="3278736" y="3256877"/>
                </a:lnTo>
                <a:lnTo>
                  <a:pt x="0" y="3256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43387" y="-124561"/>
            <a:ext cx="2954442" cy="2954442"/>
          </a:xfrm>
          <a:custGeom>
            <a:avLst/>
            <a:gdLst/>
            <a:ahLst/>
            <a:cxnLst/>
            <a:rect l="l" t="t" r="r" b="b"/>
            <a:pathLst>
              <a:path w="2954442" h="2954442">
                <a:moveTo>
                  <a:pt x="0" y="0"/>
                </a:moveTo>
                <a:lnTo>
                  <a:pt x="2954441" y="0"/>
                </a:lnTo>
                <a:lnTo>
                  <a:pt x="2954441" y="2954442"/>
                </a:lnTo>
                <a:lnTo>
                  <a:pt x="0" y="2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618867" y="9589167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7" name="Freeform 7"/>
          <p:cNvSpPr/>
          <p:nvPr/>
        </p:nvSpPr>
        <p:spPr>
          <a:xfrm>
            <a:off x="3646949" y="8644939"/>
            <a:ext cx="1983704" cy="1983704"/>
          </a:xfrm>
          <a:custGeom>
            <a:avLst/>
            <a:gdLst/>
            <a:ahLst/>
            <a:cxnLst/>
            <a:rect l="l" t="t" r="r" b="b"/>
            <a:pathLst>
              <a:path w="1983704" h="1983704">
                <a:moveTo>
                  <a:pt x="0" y="0"/>
                </a:moveTo>
                <a:lnTo>
                  <a:pt x="1983705" y="0"/>
                </a:lnTo>
                <a:lnTo>
                  <a:pt x="1983705" y="1983705"/>
                </a:lnTo>
                <a:lnTo>
                  <a:pt x="0" y="19837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4928916">
            <a:off x="8079171" y="2808915"/>
            <a:ext cx="5630658" cy="8331675"/>
            <a:chOff x="0" y="0"/>
            <a:chExt cx="7507544" cy="11108900"/>
          </a:xfrm>
        </p:grpSpPr>
        <p:sp>
          <p:nvSpPr>
            <p:cNvPr id="9" name="TextBox 9"/>
            <p:cNvSpPr txBox="1"/>
            <p:nvPr/>
          </p:nvSpPr>
          <p:spPr>
            <a:xfrm>
              <a:off x="3227564" y="6302920"/>
              <a:ext cx="1052417" cy="752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92"/>
                </a:lnSpc>
              </a:pPr>
              <a:r>
                <a:rPr lang="en-US" sz="3423" b="1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F5E3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227564" y="8157751"/>
              <a:ext cx="1052417" cy="7527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792"/>
                </a:lnSpc>
              </a:pPr>
              <a:r>
                <a:rPr lang="en-US" sz="3423" b="1">
                  <a:gradFill>
                    <a:gsLst>
                      <a:gs pos="0">
                        <a:srgbClr val="FFFFFF">
                          <a:alpha val="100000"/>
                        </a:srgbClr>
                      </a:gs>
                      <a:gs pos="100000">
                        <a:srgbClr val="F5F5E3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Montserrat Bold"/>
                  <a:ea typeface="Montserrat Bold"/>
                  <a:cs typeface="Montserrat Bold"/>
                  <a:sym typeface="Montserrat Bold"/>
                </a:rPr>
                <a:t>8</a:t>
              </a:r>
            </a:p>
          </p:txBody>
        </p:sp>
        <p:sp>
          <p:nvSpPr>
            <p:cNvPr id="11" name="Freeform 11"/>
            <p:cNvSpPr/>
            <p:nvPr/>
          </p:nvSpPr>
          <p:spPr>
            <a:xfrm rot="6394742">
              <a:off x="-1325804" y="3150117"/>
              <a:ext cx="10159153" cy="4808666"/>
            </a:xfrm>
            <a:custGeom>
              <a:avLst/>
              <a:gdLst/>
              <a:ahLst/>
              <a:cxnLst/>
              <a:rect l="l" t="t" r="r" b="b"/>
              <a:pathLst>
                <a:path w="10159153" h="4808666">
                  <a:moveTo>
                    <a:pt x="0" y="0"/>
                  </a:moveTo>
                  <a:lnTo>
                    <a:pt x="10159153" y="0"/>
                  </a:lnTo>
                  <a:lnTo>
                    <a:pt x="10159153" y="4808666"/>
                  </a:lnTo>
                  <a:lnTo>
                    <a:pt x="0" y="4808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 rot="-4326729">
              <a:off x="85408" y="4258033"/>
              <a:ext cx="7300471" cy="3035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🏫 Institution</a:t>
              </a:r>
            </a:p>
            <a:p>
              <a:pPr algn="ctr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Better utilization of student talent</a:t>
              </a:r>
            </a:p>
            <a:p>
              <a:pPr algn="ctr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Increased participation in hackathons and research programs</a:t>
              </a:r>
            </a:p>
            <a:p>
              <a:pPr algn="ctr">
                <a:lnSpc>
                  <a:spcPts val="3027"/>
                </a:lnSpc>
                <a:spcBef>
                  <a:spcPct val="0"/>
                </a:spcBef>
              </a:pPr>
              <a:r>
                <a:rPr lang="en-US" sz="216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Stronger culture of innovation and cross-department collaboration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4285403" y="6948006"/>
            <a:ext cx="2954442" cy="2954442"/>
          </a:xfrm>
          <a:custGeom>
            <a:avLst/>
            <a:gdLst/>
            <a:ahLst/>
            <a:cxnLst/>
            <a:rect l="l" t="t" r="r" b="b"/>
            <a:pathLst>
              <a:path w="2954442" h="2954442">
                <a:moveTo>
                  <a:pt x="0" y="0"/>
                </a:moveTo>
                <a:lnTo>
                  <a:pt x="2954442" y="0"/>
                </a:lnTo>
                <a:lnTo>
                  <a:pt x="2954442" y="2954442"/>
                </a:lnTo>
                <a:lnTo>
                  <a:pt x="0" y="2954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103248" y="9883013"/>
            <a:ext cx="1184752" cy="40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0"/>
              </a:lnSpc>
            </a:pPr>
            <a:r>
              <a:rPr lang="en-US" sz="2421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5" name="TextBox 15"/>
          <p:cNvSpPr txBox="1"/>
          <p:nvPr/>
        </p:nvSpPr>
        <p:spPr>
          <a:xfrm rot="608958">
            <a:off x="11261040" y="4850526"/>
            <a:ext cx="7763793" cy="111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5"/>
              </a:lnSpc>
            </a:pPr>
            <a:r>
              <a:rPr lang="en-US" sz="10332" i="1" spc="-72" dirty="0">
                <a:gradFill>
                  <a:gsLst>
                    <a:gs pos="0">
                      <a:srgbClr val="B644DD">
                        <a:alpha val="86000"/>
                      </a:srgbClr>
                    </a:gs>
                    <a:gs pos="50000">
                      <a:srgbClr val="692390">
                        <a:alpha val="86000"/>
                      </a:srgbClr>
                    </a:gs>
                    <a:gs pos="100000">
                      <a:srgbClr val="522FB4">
                        <a:alpha val="86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Libre Baskerville Italics"/>
                <a:ea typeface="Libre Baskerville Italics"/>
                <a:cs typeface="Libre Baskerville Italics"/>
                <a:sym typeface="Libre Baskerville Italics"/>
              </a:rPr>
              <a:t>IMPACTS</a:t>
            </a:r>
          </a:p>
        </p:txBody>
      </p:sp>
      <p:sp>
        <p:nvSpPr>
          <p:cNvPr id="16" name="TextBox 16"/>
          <p:cNvSpPr txBox="1"/>
          <p:nvPr/>
        </p:nvSpPr>
        <p:spPr>
          <a:xfrm rot="876867">
            <a:off x="14370003" y="-668366"/>
            <a:ext cx="4764296" cy="514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179"/>
              </a:lnSpc>
              <a:spcBef>
                <a:spcPct val="0"/>
              </a:spcBef>
            </a:pPr>
            <a:r>
              <a:rPr lang="en-US" sz="30128">
                <a:solidFill>
                  <a:srgbClr val="000000">
                    <a:alpha val="71765"/>
                  </a:srgbClr>
                </a:solidFill>
                <a:latin typeface="Canva Sans"/>
                <a:ea typeface="Canva Sans"/>
                <a:cs typeface="Canva Sans"/>
                <a:sym typeface="Canva Sans"/>
              </a:rPr>
              <a:t>📈</a:t>
            </a:r>
          </a:p>
        </p:txBody>
      </p:sp>
      <p:grpSp>
        <p:nvGrpSpPr>
          <p:cNvPr id="17" name="Group 17"/>
          <p:cNvGrpSpPr/>
          <p:nvPr/>
        </p:nvGrpSpPr>
        <p:grpSpPr>
          <a:xfrm rot="1681848">
            <a:off x="840822" y="-832996"/>
            <a:ext cx="5795193" cy="8524466"/>
            <a:chOff x="0" y="0"/>
            <a:chExt cx="7726924" cy="11365954"/>
          </a:xfrm>
        </p:grpSpPr>
        <p:sp>
          <p:nvSpPr>
            <p:cNvPr id="18" name="Freeform 18"/>
            <p:cNvSpPr/>
            <p:nvPr/>
          </p:nvSpPr>
          <p:spPr>
            <a:xfrm rot="6416042">
              <a:off x="-1328801" y="3225306"/>
              <a:ext cx="10384525" cy="4915342"/>
            </a:xfrm>
            <a:custGeom>
              <a:avLst/>
              <a:gdLst/>
              <a:ahLst/>
              <a:cxnLst/>
              <a:rect l="l" t="t" r="r" b="b"/>
              <a:pathLst>
                <a:path w="10384525" h="4915342">
                  <a:moveTo>
                    <a:pt x="0" y="0"/>
                  </a:moveTo>
                  <a:lnTo>
                    <a:pt x="10384525" y="0"/>
                  </a:lnTo>
                  <a:lnTo>
                    <a:pt x="10384525" y="4915342"/>
                  </a:lnTo>
                  <a:lnTo>
                    <a:pt x="0" y="4915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 rot="-4364903">
              <a:off x="583660" y="4259559"/>
              <a:ext cx="6523218" cy="32452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66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👨‍🎓 Students</a:t>
              </a:r>
            </a:p>
            <a:p>
              <a:pPr algn="ctr">
                <a:lnSpc>
                  <a:spcPts val="2766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Find the right teammates faster</a:t>
              </a:r>
            </a:p>
            <a:p>
              <a:pPr algn="ctr">
                <a:lnSpc>
                  <a:spcPts val="2766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Access more projects, hackathons, and research opportunities</a:t>
              </a:r>
            </a:p>
            <a:p>
              <a:pPr algn="ctr">
                <a:lnSpc>
                  <a:spcPts val="2766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Build stronger professional networks</a:t>
              </a:r>
            </a:p>
            <a:p>
              <a:pPr algn="ctr">
                <a:lnSpc>
                  <a:spcPts val="2766"/>
                </a:lnSpc>
                <a:spcBef>
                  <a:spcPct val="0"/>
                </a:spcBef>
              </a:pPr>
              <a:r>
                <a:rPr lang="en-US" sz="1976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Gain hands-on experience through collaboration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 rot="3966262">
            <a:off x="5806677" y="-2322"/>
            <a:ext cx="5569665" cy="8148520"/>
            <a:chOff x="0" y="0"/>
            <a:chExt cx="7426220" cy="10864693"/>
          </a:xfrm>
        </p:grpSpPr>
        <p:sp>
          <p:nvSpPr>
            <p:cNvPr id="21" name="Freeform 21"/>
            <p:cNvSpPr/>
            <p:nvPr/>
          </p:nvSpPr>
          <p:spPr>
            <a:xfrm rot="6435632">
              <a:off x="-1246073" y="3085000"/>
              <a:ext cx="9918366" cy="4694693"/>
            </a:xfrm>
            <a:custGeom>
              <a:avLst/>
              <a:gdLst/>
              <a:ahLst/>
              <a:cxnLst/>
              <a:rect l="l" t="t" r="r" b="b"/>
              <a:pathLst>
                <a:path w="9918366" h="4694693">
                  <a:moveTo>
                    <a:pt x="0" y="0"/>
                  </a:moveTo>
                  <a:lnTo>
                    <a:pt x="9918366" y="0"/>
                  </a:lnTo>
                  <a:lnTo>
                    <a:pt x="9918366" y="4694693"/>
                  </a:lnTo>
                  <a:lnTo>
                    <a:pt x="0" y="4694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 rot="-4405064">
              <a:off x="753002" y="3876227"/>
              <a:ext cx="5883699" cy="31103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👨‍🏫 Professors &amp; Mentors</a:t>
              </a:r>
            </a:p>
            <a:p>
              <a:pPr algn="ctr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Discover students with relevant skills more easily</a:t>
              </a:r>
            </a:p>
            <a:p>
              <a:pPr algn="ctr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Build project and research teams faster</a:t>
              </a:r>
            </a:p>
            <a:p>
              <a:pPr algn="ctr">
                <a:lnSpc>
                  <a:spcPts val="2650"/>
                </a:lnSpc>
                <a:spcBef>
                  <a:spcPct val="0"/>
                </a:spcBef>
              </a:pPr>
              <a:r>
                <a:rPr lang="en-US" sz="189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Improve student participation in research initiatives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627914" y="636457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627914" y="2522317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541835" y="4897156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3"/>
                </a:lnTo>
                <a:lnTo>
                  <a:pt x="0" y="135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7258562"/>
            <a:ext cx="2923895" cy="3169533"/>
          </a:xfrm>
          <a:custGeom>
            <a:avLst/>
            <a:gdLst/>
            <a:ahLst/>
            <a:cxnLst/>
            <a:rect l="l" t="t" r="r" b="b"/>
            <a:pathLst>
              <a:path w="2923895" h="3169533">
                <a:moveTo>
                  <a:pt x="0" y="0"/>
                </a:moveTo>
                <a:lnTo>
                  <a:pt x="2923895" y="0"/>
                </a:lnTo>
                <a:lnTo>
                  <a:pt x="2923895" y="3169533"/>
                </a:lnTo>
                <a:lnTo>
                  <a:pt x="0" y="31695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374598" y="6691089"/>
            <a:ext cx="13125518" cy="2567211"/>
          </a:xfrm>
          <a:custGeom>
            <a:avLst/>
            <a:gdLst/>
            <a:ahLst/>
            <a:cxnLst/>
            <a:rect l="l" t="t" r="r" b="b"/>
            <a:pathLst>
              <a:path w="13125518" h="2567211">
                <a:moveTo>
                  <a:pt x="0" y="0"/>
                </a:moveTo>
                <a:lnTo>
                  <a:pt x="13125517" y="0"/>
                </a:lnTo>
                <a:lnTo>
                  <a:pt x="13125517" y="2567211"/>
                </a:lnTo>
                <a:lnTo>
                  <a:pt x="0" y="2567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175" t="-105933" r="-517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08749" y="8523665"/>
            <a:ext cx="3746793" cy="3526669"/>
          </a:xfrm>
          <a:custGeom>
            <a:avLst/>
            <a:gdLst/>
            <a:ahLst/>
            <a:cxnLst/>
            <a:rect l="l" t="t" r="r" b="b"/>
            <a:pathLst>
              <a:path w="3746793" h="3526669">
                <a:moveTo>
                  <a:pt x="0" y="0"/>
                </a:moveTo>
                <a:lnTo>
                  <a:pt x="3746793" y="0"/>
                </a:lnTo>
                <a:lnTo>
                  <a:pt x="3746793" y="3526670"/>
                </a:lnTo>
                <a:lnTo>
                  <a:pt x="0" y="35266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827038">
            <a:off x="-344957" y="-558644"/>
            <a:ext cx="2111156" cy="2895736"/>
          </a:xfrm>
          <a:custGeom>
            <a:avLst/>
            <a:gdLst/>
            <a:ahLst/>
            <a:cxnLst/>
            <a:rect l="l" t="t" r="r" b="b"/>
            <a:pathLst>
              <a:path w="2111156" h="2895736">
                <a:moveTo>
                  <a:pt x="0" y="0"/>
                </a:moveTo>
                <a:lnTo>
                  <a:pt x="2111155" y="0"/>
                </a:lnTo>
                <a:lnTo>
                  <a:pt x="2111155" y="2895737"/>
                </a:lnTo>
                <a:lnTo>
                  <a:pt x="0" y="2895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405475" y="-328802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1" y="0"/>
                </a:lnTo>
                <a:lnTo>
                  <a:pt x="1320171" y="1357502"/>
                </a:lnTo>
                <a:lnTo>
                  <a:pt x="0" y="135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027023" y="-468278"/>
            <a:ext cx="1320171" cy="1357502"/>
          </a:xfrm>
          <a:custGeom>
            <a:avLst/>
            <a:gdLst/>
            <a:ahLst/>
            <a:cxnLst/>
            <a:rect l="l" t="t" r="r" b="b"/>
            <a:pathLst>
              <a:path w="1320171" h="1357502">
                <a:moveTo>
                  <a:pt x="0" y="0"/>
                </a:moveTo>
                <a:lnTo>
                  <a:pt x="1320172" y="0"/>
                </a:lnTo>
                <a:lnTo>
                  <a:pt x="1320172" y="1357503"/>
                </a:lnTo>
                <a:lnTo>
                  <a:pt x="0" y="1357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641648" y="750981"/>
            <a:ext cx="8854001" cy="2039774"/>
          </a:xfrm>
          <a:custGeom>
            <a:avLst/>
            <a:gdLst/>
            <a:ahLst/>
            <a:cxnLst/>
            <a:rect l="l" t="t" r="r" b="b"/>
            <a:pathLst>
              <a:path w="8854001" h="2039774">
                <a:moveTo>
                  <a:pt x="0" y="0"/>
                </a:moveTo>
                <a:lnTo>
                  <a:pt x="8854001" y="0"/>
                </a:lnTo>
                <a:lnTo>
                  <a:pt x="8854001" y="2039774"/>
                </a:lnTo>
                <a:lnTo>
                  <a:pt x="0" y="2039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69782" b="-175415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336278" y="2943155"/>
            <a:ext cx="8544942" cy="3204353"/>
          </a:xfrm>
          <a:custGeom>
            <a:avLst/>
            <a:gdLst/>
            <a:ahLst/>
            <a:cxnLst/>
            <a:rect l="l" t="t" r="r" b="b"/>
            <a:pathLst>
              <a:path w="8544942" h="3204353">
                <a:moveTo>
                  <a:pt x="0" y="0"/>
                </a:moveTo>
                <a:lnTo>
                  <a:pt x="8544942" y="0"/>
                </a:lnTo>
                <a:lnTo>
                  <a:pt x="8544942" y="3204353"/>
                </a:lnTo>
                <a:lnTo>
                  <a:pt x="0" y="3204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124554" y="3575702"/>
            <a:ext cx="7520298" cy="2820112"/>
          </a:xfrm>
          <a:custGeom>
            <a:avLst/>
            <a:gdLst/>
            <a:ahLst/>
            <a:cxnLst/>
            <a:rect l="l" t="t" r="r" b="b"/>
            <a:pathLst>
              <a:path w="7520298" h="2820112">
                <a:moveTo>
                  <a:pt x="7520298" y="0"/>
                </a:moveTo>
                <a:lnTo>
                  <a:pt x="0" y="0"/>
                </a:lnTo>
                <a:lnTo>
                  <a:pt x="0" y="2820112"/>
                </a:lnTo>
                <a:lnTo>
                  <a:pt x="7520298" y="2820112"/>
                </a:lnTo>
                <a:lnTo>
                  <a:pt x="75202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7370210" y="942403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38499" y="9706610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09153" y="1021581"/>
            <a:ext cx="5880368" cy="1337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12"/>
              </a:lnSpc>
              <a:spcBef>
                <a:spcPct val="0"/>
              </a:spcBef>
            </a:pPr>
            <a:r>
              <a:rPr lang="en-US" sz="7722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Conclusion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95951" y="3838750"/>
            <a:ext cx="5980045" cy="2313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0"/>
              </a:lnSpc>
              <a:spcBef>
                <a:spcPct val="0"/>
              </a:spcBef>
            </a:pPr>
            <a:r>
              <a:rPr lang="en-US" sz="2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Our Solution Delivers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Smart Talent Discovery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Intelligent Match Scoring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Efficient Team Formation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Research &amp; Project Collaboration</a:t>
            </a:r>
          </a:p>
          <a:p>
            <a:pPr algn="ctr">
              <a:lnSpc>
                <a:spcPts val="3050"/>
              </a:lnSpc>
              <a:spcBef>
                <a:spcPct val="0"/>
              </a:spcBef>
            </a:pPr>
            <a:r>
              <a:rPr lang="en-US" sz="217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✅ Unified Student Ecosystem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77725" y="2995310"/>
            <a:ext cx="5831237" cy="305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spcBef>
                <a:spcPct val="0"/>
              </a:spcBef>
            </a:pPr>
            <a:r>
              <a:rPr lang="en-US" sz="222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Our Platform?</a:t>
            </a:r>
          </a:p>
          <a:p>
            <a:pPr marL="415838" lvl="1" indent="-207919" algn="l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Connects students based on skills, interests, and availability</a:t>
            </a:r>
          </a:p>
          <a:p>
            <a:pPr marL="415838" lvl="1" indent="-207919" algn="l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Simplifies team formation for projects, hackathons, and research</a:t>
            </a:r>
          </a:p>
          <a:p>
            <a:pPr marL="415838" lvl="1" indent="-207919" algn="l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professors discover and recruit talented students</a:t>
            </a:r>
          </a:p>
          <a:p>
            <a:pPr marL="415838" lvl="1" indent="-207919" algn="l">
              <a:lnSpc>
                <a:spcPts val="2696"/>
              </a:lnSpc>
              <a:buFont typeface="Arial"/>
              <a:buChar char="•"/>
            </a:pPr>
            <a:r>
              <a:rPr lang="en-US" sz="192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Creates a collaborative and opportunity-driven campus environment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09153" y="6838827"/>
            <a:ext cx="12256407" cy="869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Empowering students to connect, collaborate, and innovate by bringing talent, opportunities, and teamwork into one unified platform.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7038">
            <a:off x="16712286" y="8455347"/>
            <a:ext cx="2111156" cy="2895736"/>
          </a:xfrm>
          <a:custGeom>
            <a:avLst/>
            <a:gdLst/>
            <a:ahLst/>
            <a:cxnLst/>
            <a:rect l="l" t="t" r="r" b="b"/>
            <a:pathLst>
              <a:path w="2111156" h="2895736">
                <a:moveTo>
                  <a:pt x="0" y="0"/>
                </a:moveTo>
                <a:lnTo>
                  <a:pt x="2111156" y="0"/>
                </a:lnTo>
                <a:lnTo>
                  <a:pt x="2111156" y="2895736"/>
                </a:lnTo>
                <a:lnTo>
                  <a:pt x="0" y="28957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09551" y="7797034"/>
            <a:ext cx="2732216" cy="2851459"/>
          </a:xfrm>
          <a:custGeom>
            <a:avLst/>
            <a:gdLst/>
            <a:ahLst/>
            <a:cxnLst/>
            <a:rect l="l" t="t" r="r" b="b"/>
            <a:pathLst>
              <a:path w="2732216" h="2851459">
                <a:moveTo>
                  <a:pt x="2732217" y="0"/>
                </a:moveTo>
                <a:lnTo>
                  <a:pt x="0" y="0"/>
                </a:lnTo>
                <a:lnTo>
                  <a:pt x="0" y="2851459"/>
                </a:lnTo>
                <a:lnTo>
                  <a:pt x="2732217" y="2851459"/>
                </a:lnTo>
                <a:lnTo>
                  <a:pt x="2732217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69547" y="-1128092"/>
            <a:ext cx="3179507" cy="3169533"/>
          </a:xfrm>
          <a:custGeom>
            <a:avLst/>
            <a:gdLst/>
            <a:ahLst/>
            <a:cxnLst/>
            <a:rect l="l" t="t" r="r" b="b"/>
            <a:pathLst>
              <a:path w="3179507" h="3169533">
                <a:moveTo>
                  <a:pt x="0" y="0"/>
                </a:moveTo>
                <a:lnTo>
                  <a:pt x="3179506" y="0"/>
                </a:lnTo>
                <a:lnTo>
                  <a:pt x="3179506" y="3169534"/>
                </a:lnTo>
                <a:lnTo>
                  <a:pt x="0" y="3169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2908" y="-728399"/>
            <a:ext cx="1419758" cy="1391363"/>
          </a:xfrm>
          <a:custGeom>
            <a:avLst/>
            <a:gdLst/>
            <a:ahLst/>
            <a:cxnLst/>
            <a:rect l="l" t="t" r="r" b="b"/>
            <a:pathLst>
              <a:path w="1419758" h="1391363">
                <a:moveTo>
                  <a:pt x="0" y="0"/>
                </a:moveTo>
                <a:lnTo>
                  <a:pt x="1419758" y="0"/>
                </a:lnTo>
                <a:lnTo>
                  <a:pt x="1419758" y="1391362"/>
                </a:lnTo>
                <a:lnTo>
                  <a:pt x="0" y="13913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768083" y="-32718"/>
            <a:ext cx="2171311" cy="3618852"/>
          </a:xfrm>
          <a:custGeom>
            <a:avLst/>
            <a:gdLst/>
            <a:ahLst/>
            <a:cxnLst/>
            <a:rect l="l" t="t" r="r" b="b"/>
            <a:pathLst>
              <a:path w="2171311" h="3618852">
                <a:moveTo>
                  <a:pt x="0" y="0"/>
                </a:moveTo>
                <a:lnTo>
                  <a:pt x="2171311" y="0"/>
                </a:lnTo>
                <a:lnTo>
                  <a:pt x="2171311" y="3618852"/>
                </a:lnTo>
                <a:lnTo>
                  <a:pt x="0" y="3618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4789512">
            <a:off x="11100190" y="9639345"/>
            <a:ext cx="620234" cy="868591"/>
          </a:xfrm>
          <a:custGeom>
            <a:avLst/>
            <a:gdLst/>
            <a:ahLst/>
            <a:cxnLst/>
            <a:rect l="l" t="t" r="r" b="b"/>
            <a:pathLst>
              <a:path w="620234" h="868591">
                <a:moveTo>
                  <a:pt x="0" y="0"/>
                </a:moveTo>
                <a:lnTo>
                  <a:pt x="620234" y="0"/>
                </a:lnTo>
                <a:lnTo>
                  <a:pt x="620234" y="868590"/>
                </a:lnTo>
                <a:lnTo>
                  <a:pt x="0" y="868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163802" y="8625137"/>
            <a:ext cx="3453213" cy="3523687"/>
          </a:xfrm>
          <a:custGeom>
            <a:avLst/>
            <a:gdLst/>
            <a:ahLst/>
            <a:cxnLst/>
            <a:rect l="l" t="t" r="r" b="b"/>
            <a:pathLst>
              <a:path w="3453213" h="3523687">
                <a:moveTo>
                  <a:pt x="0" y="0"/>
                </a:moveTo>
                <a:lnTo>
                  <a:pt x="3453213" y="0"/>
                </a:lnTo>
                <a:lnTo>
                  <a:pt x="3453213" y="3523687"/>
                </a:lnTo>
                <a:lnTo>
                  <a:pt x="0" y="35236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060438" y="884286"/>
            <a:ext cx="8432321" cy="1187367"/>
          </a:xfrm>
          <a:custGeom>
            <a:avLst/>
            <a:gdLst/>
            <a:ahLst/>
            <a:cxnLst/>
            <a:rect l="l" t="t" r="r" b="b"/>
            <a:pathLst>
              <a:path w="8432321" h="1187367">
                <a:moveTo>
                  <a:pt x="0" y="0"/>
                </a:moveTo>
                <a:lnTo>
                  <a:pt x="8432320" y="0"/>
                </a:lnTo>
                <a:lnTo>
                  <a:pt x="8432320" y="1187367"/>
                </a:lnTo>
                <a:lnTo>
                  <a:pt x="0" y="11873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23054" b="-40755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15436" y="2980729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1"/>
                </a:lnTo>
                <a:lnTo>
                  <a:pt x="0" y="12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6342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446639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77555" y="9493250"/>
            <a:ext cx="166342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642698"/>
                </a:solidFill>
                <a:latin typeface="Canva Sans"/>
                <a:ea typeface="Canva Sans"/>
                <a:cs typeface="Canva Sans"/>
                <a:sym typeface="Canva Sans"/>
              </a:rPr>
              <a:t>INNOV8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87272" y="784273"/>
            <a:ext cx="5240787" cy="1490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88"/>
              </a:lnSpc>
              <a:spcBef>
                <a:spcPct val="0"/>
              </a:spcBef>
            </a:pPr>
            <a:r>
              <a:rPr lang="en-US" sz="8706">
                <a:solidFill>
                  <a:srgbClr val="000000"/>
                </a:solidFill>
                <a:latin typeface="Canva Student Font"/>
                <a:ea typeface="Canva Student Font"/>
                <a:cs typeface="Canva Student Font"/>
                <a:sym typeface="Canva Student Font"/>
              </a:rPr>
              <a:t>Meet the Team</a:t>
            </a:r>
          </a:p>
        </p:txBody>
      </p:sp>
      <p:sp>
        <p:nvSpPr>
          <p:cNvPr id="14" name="Freeform 14"/>
          <p:cNvSpPr/>
          <p:nvPr/>
        </p:nvSpPr>
        <p:spPr>
          <a:xfrm rot="-10800000">
            <a:off x="10173370" y="7400742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2"/>
                </a:lnTo>
                <a:lnTo>
                  <a:pt x="0" y="1210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63425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908955" y="5372100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1"/>
                </a:lnTo>
                <a:lnTo>
                  <a:pt x="0" y="12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t="-163425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08991" y="7295735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1"/>
                </a:lnTo>
                <a:lnTo>
                  <a:pt x="0" y="12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t="-163425"/>
            </a:stretch>
          </a:blipFill>
        </p:spPr>
      </p:sp>
      <p:sp>
        <p:nvSpPr>
          <p:cNvPr id="17" name="Freeform 17"/>
          <p:cNvSpPr/>
          <p:nvPr/>
        </p:nvSpPr>
        <p:spPr>
          <a:xfrm rot="-10800000">
            <a:off x="317573" y="4752105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1"/>
                </a:lnTo>
                <a:lnTo>
                  <a:pt x="0" y="12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t="-163425"/>
            </a:stretch>
          </a:blipFill>
        </p:spPr>
      </p:sp>
      <p:sp>
        <p:nvSpPr>
          <p:cNvPr id="18" name="Freeform 18"/>
          <p:cNvSpPr/>
          <p:nvPr/>
        </p:nvSpPr>
        <p:spPr>
          <a:xfrm rot="-10800000">
            <a:off x="10173370" y="3218314"/>
            <a:ext cx="7167607" cy="1210811"/>
          </a:xfrm>
          <a:custGeom>
            <a:avLst/>
            <a:gdLst/>
            <a:ahLst/>
            <a:cxnLst/>
            <a:rect l="l" t="t" r="r" b="b"/>
            <a:pathLst>
              <a:path w="7167607" h="1210811">
                <a:moveTo>
                  <a:pt x="0" y="0"/>
                </a:moveTo>
                <a:lnTo>
                  <a:pt x="7167607" y="0"/>
                </a:lnTo>
                <a:lnTo>
                  <a:pt x="7167607" y="1210811"/>
                </a:lnTo>
                <a:lnTo>
                  <a:pt x="0" y="12108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t="-16342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2058546" y="3665354"/>
            <a:ext cx="307455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Nishita Lumini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5671" y="5622346"/>
            <a:ext cx="334803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Nishita Shankar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67000" y="7409307"/>
            <a:ext cx="388025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Rishabh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Nagvekar</a:t>
            </a: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422666" y="5076825"/>
            <a:ext cx="38051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Behura Kavyanjali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58546" y="7834465"/>
            <a:ext cx="2268412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Krishay 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52801" y="3151639"/>
            <a:ext cx="3453188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Saloni Bhanwar</a:t>
            </a: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100000"/>
              </a:srgbClr>
            </a:gs>
            <a:gs pos="100000">
              <a:srgbClr val="EFEFD0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42358" y="666750"/>
            <a:ext cx="11833617" cy="2282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7758"/>
              </a:lnSpc>
            </a:pPr>
            <a:r>
              <a:rPr lang="en-US" sz="12684" spc="1230" dirty="0">
                <a:gradFill>
                  <a:gsLst>
                    <a:gs pos="0">
                      <a:srgbClr val="C384D9">
                        <a:alpha val="100000"/>
                      </a:srgbClr>
                    </a:gs>
                    <a:gs pos="50000">
                      <a:srgbClr val="5F2280">
                        <a:alpha val="100000"/>
                      </a:srgbClr>
                    </a:gs>
                    <a:gs pos="100000">
                      <a:srgbClr val="522FB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AC Soft Icecream"/>
                <a:ea typeface="AC Soft Icecream"/>
                <a:cs typeface="AC Soft Icecream"/>
                <a:sym typeface="AC Soft Icecream"/>
              </a:rPr>
              <a:t>THANK YOU!</a:t>
            </a:r>
          </a:p>
        </p:txBody>
      </p:sp>
      <p:sp>
        <p:nvSpPr>
          <p:cNvPr id="4" name="Freeform 4"/>
          <p:cNvSpPr/>
          <p:nvPr/>
        </p:nvSpPr>
        <p:spPr>
          <a:xfrm>
            <a:off x="6523666" y="2730698"/>
            <a:ext cx="5240668" cy="8701947"/>
          </a:xfrm>
          <a:custGeom>
            <a:avLst/>
            <a:gdLst/>
            <a:ahLst/>
            <a:cxnLst/>
            <a:rect l="l" t="t" r="r" b="b"/>
            <a:pathLst>
              <a:path w="5240668" h="8701947">
                <a:moveTo>
                  <a:pt x="0" y="0"/>
                </a:moveTo>
                <a:lnTo>
                  <a:pt x="5240668" y="0"/>
                </a:lnTo>
                <a:lnTo>
                  <a:pt x="5240668" y="8701947"/>
                </a:lnTo>
                <a:lnTo>
                  <a:pt x="0" y="87019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94015" y="7604193"/>
            <a:ext cx="3031394" cy="3163694"/>
          </a:xfrm>
          <a:custGeom>
            <a:avLst/>
            <a:gdLst/>
            <a:ahLst/>
            <a:cxnLst/>
            <a:rect l="l" t="t" r="r" b="b"/>
            <a:pathLst>
              <a:path w="3031394" h="3163694">
                <a:moveTo>
                  <a:pt x="0" y="0"/>
                </a:moveTo>
                <a:lnTo>
                  <a:pt x="3031393" y="0"/>
                </a:lnTo>
                <a:lnTo>
                  <a:pt x="3031393" y="3163694"/>
                </a:lnTo>
                <a:lnTo>
                  <a:pt x="0" y="3163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636457"/>
            <a:ext cx="1688786" cy="1736540"/>
          </a:xfrm>
          <a:custGeom>
            <a:avLst/>
            <a:gdLst/>
            <a:ahLst/>
            <a:cxnLst/>
            <a:rect l="l" t="t" r="r" b="b"/>
            <a:pathLst>
              <a:path w="1688786" h="1736540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659487" y="7081671"/>
            <a:ext cx="2613651" cy="2605453"/>
          </a:xfrm>
          <a:custGeom>
            <a:avLst/>
            <a:gdLst/>
            <a:ahLst/>
            <a:cxnLst/>
            <a:rect l="l" t="t" r="r" b="b"/>
            <a:pathLst>
              <a:path w="2613651" h="2605453">
                <a:moveTo>
                  <a:pt x="0" y="0"/>
                </a:moveTo>
                <a:lnTo>
                  <a:pt x="2613651" y="0"/>
                </a:lnTo>
                <a:lnTo>
                  <a:pt x="2613651" y="2605453"/>
                </a:lnTo>
                <a:lnTo>
                  <a:pt x="0" y="2605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38202" y="5704251"/>
            <a:ext cx="1307543" cy="1452826"/>
          </a:xfrm>
          <a:custGeom>
            <a:avLst/>
            <a:gdLst/>
            <a:ahLst/>
            <a:cxnLst/>
            <a:rect l="l" t="t" r="r" b="b"/>
            <a:pathLst>
              <a:path w="1307543" h="1452826">
                <a:moveTo>
                  <a:pt x="0" y="0"/>
                </a:moveTo>
                <a:lnTo>
                  <a:pt x="1307544" y="0"/>
                </a:lnTo>
                <a:lnTo>
                  <a:pt x="1307544" y="1452826"/>
                </a:lnTo>
                <a:lnTo>
                  <a:pt x="0" y="14528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928144" y="-258873"/>
            <a:ext cx="3150966" cy="3527201"/>
          </a:xfrm>
          <a:custGeom>
            <a:avLst/>
            <a:gdLst/>
            <a:ahLst/>
            <a:cxnLst/>
            <a:rect l="l" t="t" r="r" b="b"/>
            <a:pathLst>
              <a:path w="3150966" h="3527201">
                <a:moveTo>
                  <a:pt x="0" y="0"/>
                </a:moveTo>
                <a:lnTo>
                  <a:pt x="3150966" y="0"/>
                </a:lnTo>
                <a:lnTo>
                  <a:pt x="3150966" y="3527200"/>
                </a:lnTo>
                <a:lnTo>
                  <a:pt x="0" y="3527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54798" y="3494617"/>
            <a:ext cx="2936047" cy="2936047"/>
          </a:xfrm>
          <a:custGeom>
            <a:avLst/>
            <a:gdLst/>
            <a:ahLst/>
            <a:cxnLst/>
            <a:rect l="l" t="t" r="r" b="b"/>
            <a:pathLst>
              <a:path w="2936047" h="2936047">
                <a:moveTo>
                  <a:pt x="0" y="0"/>
                </a:moveTo>
                <a:lnTo>
                  <a:pt x="2936047" y="0"/>
                </a:lnTo>
                <a:lnTo>
                  <a:pt x="2936047" y="2936047"/>
                </a:lnTo>
                <a:lnTo>
                  <a:pt x="0" y="2936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07198" y="3647017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4" y="0"/>
                </a:lnTo>
                <a:lnTo>
                  <a:pt x="1055244" y="1055243"/>
                </a:lnTo>
                <a:lnTo>
                  <a:pt x="0" y="1055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342358" y="3158037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4" y="0"/>
                </a:lnTo>
                <a:lnTo>
                  <a:pt x="1055244" y="1055243"/>
                </a:lnTo>
                <a:lnTo>
                  <a:pt x="0" y="10552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635602" y="5529265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3" y="0"/>
                </a:lnTo>
                <a:lnTo>
                  <a:pt x="1055243" y="1055244"/>
                </a:lnTo>
                <a:lnTo>
                  <a:pt x="0" y="1055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7259300" y="2965720"/>
            <a:ext cx="1688786" cy="1736540"/>
          </a:xfrm>
          <a:custGeom>
            <a:avLst/>
            <a:gdLst/>
            <a:ahLst/>
            <a:cxnLst/>
            <a:rect l="l" t="t" r="r" b="b"/>
            <a:pathLst>
              <a:path w="1688786" h="1736540">
                <a:moveTo>
                  <a:pt x="0" y="0"/>
                </a:moveTo>
                <a:lnTo>
                  <a:pt x="1688786" y="0"/>
                </a:lnTo>
                <a:lnTo>
                  <a:pt x="1688786" y="1736540"/>
                </a:lnTo>
                <a:lnTo>
                  <a:pt x="0" y="17365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270027" y="8631880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3" y="0"/>
                </a:lnTo>
                <a:lnTo>
                  <a:pt x="1055243" y="1055244"/>
                </a:lnTo>
                <a:lnTo>
                  <a:pt x="0" y="1055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797648" y="7329154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4" y="0"/>
                </a:lnTo>
                <a:lnTo>
                  <a:pt x="1055244" y="1055244"/>
                </a:lnTo>
                <a:lnTo>
                  <a:pt x="0" y="1055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151553" y="8504681"/>
            <a:ext cx="1055244" cy="1055244"/>
          </a:xfrm>
          <a:custGeom>
            <a:avLst/>
            <a:gdLst/>
            <a:ahLst/>
            <a:cxnLst/>
            <a:rect l="l" t="t" r="r" b="b"/>
            <a:pathLst>
              <a:path w="1055244" h="1055244">
                <a:moveTo>
                  <a:pt x="0" y="0"/>
                </a:moveTo>
                <a:lnTo>
                  <a:pt x="1055243" y="0"/>
                </a:lnTo>
                <a:lnTo>
                  <a:pt x="1055243" y="1055244"/>
                </a:lnTo>
                <a:lnTo>
                  <a:pt x="0" y="10552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236569" y="-843436"/>
            <a:ext cx="2045541" cy="2004630"/>
          </a:xfrm>
          <a:custGeom>
            <a:avLst/>
            <a:gdLst/>
            <a:ahLst/>
            <a:cxnLst/>
            <a:rect l="l" t="t" r="r" b="b"/>
            <a:pathLst>
              <a:path w="2045541" h="2004630">
                <a:moveTo>
                  <a:pt x="0" y="0"/>
                </a:moveTo>
                <a:lnTo>
                  <a:pt x="2045540" y="0"/>
                </a:lnTo>
                <a:lnTo>
                  <a:pt x="2045540" y="2004629"/>
                </a:lnTo>
                <a:lnTo>
                  <a:pt x="0" y="2004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894</Words>
  <Application>Microsoft Office PowerPoint</Application>
  <PresentationFormat>Custom</PresentationFormat>
  <Paragraphs>265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40" baseType="lpstr">
      <vt:lpstr>Arial</vt:lpstr>
      <vt:lpstr>IM Fell</vt:lpstr>
      <vt:lpstr>Calibri</vt:lpstr>
      <vt:lpstr>Lekton</vt:lpstr>
      <vt:lpstr>Quotes Script</vt:lpstr>
      <vt:lpstr>Trend Slab Four</vt:lpstr>
      <vt:lpstr>AC Soft Icecream Italics</vt:lpstr>
      <vt:lpstr>Canva Sans</vt:lpstr>
      <vt:lpstr>The Seasons</vt:lpstr>
      <vt:lpstr>Canva Student Font</vt:lpstr>
      <vt:lpstr>Canva Sans Bold</vt:lpstr>
      <vt:lpstr>DM Sans Bold</vt:lpstr>
      <vt:lpstr>Brice SemiExpanded Bold</vt:lpstr>
      <vt:lpstr>Roca Two Heavy</vt:lpstr>
      <vt:lpstr>Moontime</vt:lpstr>
      <vt:lpstr>Montserrat Bold</vt:lpstr>
      <vt:lpstr>SK Concretica</vt:lpstr>
      <vt:lpstr>Libre Baskerville Italics</vt:lpstr>
      <vt:lpstr>Alta</vt:lpstr>
      <vt:lpstr>Brice SemiExpanded Heavy</vt:lpstr>
      <vt:lpstr>Bungee</vt:lpstr>
      <vt:lpstr>AC Soft Icecream</vt:lpstr>
      <vt:lpstr>Distillery Strong</vt:lpstr>
      <vt:lpstr>Lekton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 nexora updated INNOV8</dc:title>
  <cp:lastModifiedBy>krishay.g.official@gmail.com</cp:lastModifiedBy>
  <cp:revision>4</cp:revision>
  <dcterms:created xsi:type="dcterms:W3CDTF">2006-08-16T00:00:00Z</dcterms:created>
  <dcterms:modified xsi:type="dcterms:W3CDTF">2026-08-30T11:12:33Z</dcterms:modified>
  <dc:identifier>DAHTk2odjKc</dc:identifier>
</cp:coreProperties>
</file>